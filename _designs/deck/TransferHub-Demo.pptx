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17dcbb7-44f3-4546-4e3c-40a00f6eec6e}">
          <p14:sldIdLst>
            <p14:sldId id="256"/>
            <p14:sldId id="257"/>
          </p14:sldIdLst>
        </p14:section>
        <p14:section name="Student" id="{19961f48-de27-b0d9-2113-6eed177b8e02}">
          <p14:sldIdLst>
            <p14:sldId id="258"/>
            <p14:sldId id="259"/>
            <p14:sldId id="260"/>
            <p14:sldId id="261"/>
            <p14:sldId id="262"/>
          </p14:sldIdLst>
        </p14:section>
        <p14:section name="Staff" id="{c934eb28-d874-2c86-bd35-49bfe38bcc38}">
          <p14:sldIdLst>
            <p14:sldId id="263"/>
            <p14:sldId id="264"/>
            <p14:sldId id="265"/>
          </p14:sldIdLst>
        </p14:section>
        <p14:section name="Super admin" id="{ac5aa165-2454-0a6a-cef9-d71803b8e498}">
          <p14:sldIdLst>
            <p14:sldId id="266"/>
          </p14:sldIdLst>
        </p14:section>
        <p14:section name="Close" id="{3e22567e-a992-c7ea-e797-149df8e3e5c1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8 minutes. Two browser profiles: student and staff. Login page has one-click demo login buttons, so no passwords are typed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steps, student first, then staff, then the super admin view.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/register. Six built-in steps plus any extra steps the admin adds through the student-registration Custom Form. The student is signed 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Upload: drop PDFs or photos (or use the phone camera). Each file is classified and read; the student checks and confirms. Live AI runs on Azure OpenAI (Azure AI Foundry); with no provider active the built-in rules reader does it, at lower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Submit Transcript the student picks "Use these courses" from a transcript Smart Upload already read. Nothing is retyped. Target university and program are pre-selected from the profile; each program shows its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submit every course is triaged at once (sp_TriageCourse + the BU policy engine). The student watches a live tracker (server-sent events) with notes beside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known equivalencies apply instantly. Two go to the CS department with ranked suggestions. The quarter course is converted 4 x 2/3 = 2.66.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 in as faculty (one-click demo login), open the Approval queue, the Bay State request, Faculty review stage. Compare CSC 220 with CAS CS 112 and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Press "Add second student" on the Demo scenario page: Noah Chen, also CSC 220 from Bay State, is applied automatically with no review. AI Controls &gt; Learning turns repeated faculty corrections into suggested playbook rules; an admin adds them with a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Workflows (super admin settings, or /admin/workflows). The default: request received → intake and AI match → faculty review → finance → first approver → final approver → completed. Each university can copy it and change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 admin dashboard: an "AI agents" block sits under Transfer operations, separate from the regular counts. AI Controls shows the same numbers in detail: spent this month, $ spent by request (matching / documents / briefs), tokens avoided, cache hits, response times. Spend comes from the active provider (Azure OpenAI today; Anthropic also configured); the rules engine is logged at no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Clopay CodeCrafters: two Microsoft-practice and three UI-practice engineers from Evoke Technologies.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 Repo and live site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live demo  ·  Clopay CodeCrafters  ·  screenshots use synthetic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DARK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voke-Hackathon-2026/Clopay-CodeCrafters" TargetMode="External"/><Relationship Id="rId4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5" Type="http://schemas.openxmlformats.org/officeDocument/2006/relationships/image" Target="../media/image-13-3.png"/><Relationship Id="rId6" Type="http://schemas.openxmlformats.org/officeDocument/2006/relationships/image" Target="../media/image-13-4.png"/><Relationship Id="rId7" Type="http://schemas.openxmlformats.org/officeDocument/2006/relationships/image" Target="../media/image-13-5.png"/><Relationship Id="rId8" Type="http://schemas.openxmlformats.org/officeDocument/2006/relationships/image" Target="../media/image-13-6.png"/><Relationship Id="rId9" Type="http://schemas.openxmlformats.org/officeDocument/2006/relationships/image" Target="../media/image-13-7.png"/><Relationship Id="rId10" Type="http://schemas.openxmlformats.org/officeDocument/2006/relationships/image" Target="../media/image-13-8.png"/><Relationship Id="rId11" Type="http://schemas.openxmlformats.org/officeDocument/2006/relationships/image" Target="../media/image-13-9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TransferHub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4360"/>
            <a:ext cx="3291840" cy="1645920"/>
          </a:xfrm>
          <a:prstGeom prst="rect">
            <a:avLst/>
          </a:prstGeom>
        </p:spPr>
      </p:pic>
      <p:pic>
        <p:nvPicPr>
          <p:cNvPr id="5" name="Image 1" descr="Clopay CodeCrafter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11480"/>
            <a:ext cx="2745651" cy="1828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40080" y="26060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one transfer, end to end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640080" y="3611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C9CD"/>
                </a:solidFill>
              </a:rPr>
              <a:t>From a new student account to a department decision that teaches the system.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CodeCrafters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 ·   Evoke FDE AI Hackathon 5.0   ·   Problem 1 · Boston University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8C9CD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see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Create the user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Student self-registration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488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146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14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Upload the documents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Smart Upload reads them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490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1148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148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Auto-capture into the request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Courses pre-filled, target set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3492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7150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150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406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Submit for transfer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406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Live tracker, lanes, top-3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4406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9494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0" y="182880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Approve and decide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Side-by-side, learning loop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</a:rPr>
              <a:t>Faculty / Admin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5496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89154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9154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Configure the workflow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Stages, approvers, SLAs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6410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Admin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1498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105156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515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AI stats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02412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Spend and usage, kept apart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2412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Super admin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The story.  </a:t>
            </a:r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Maya Rivera moves from Bay State Community College to Boston University with six courses: three known, two "maybe", one quarter-system.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the user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Registration stepper screenshot" descr="Registration stepp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694944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63840" y="1490472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503920" y="14173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Account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863840" y="2203704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2203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503920" y="213055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Application: target university, program, school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863840" y="2916936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86384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8503920" y="2843784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Contact and emergency contact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863840" y="3630168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6384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503920" y="3557016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Education history, every college + AP / IB / A-level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7863840" y="4343400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638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03920" y="4270248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Language and outside-US check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863840" y="5056632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863840" y="5056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498348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Review, then signed straight in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7863840" y="5715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5D"/>
                </a:solidFill>
              </a:rPr>
              <a:t>BU rules need this as structured data: applicant type sets the credit cap.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Uploading the documents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Smart upload screenshot" descr="Smart uploa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658368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498080" y="14173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0" name="Image 1" descr="Fi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781" y="153802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0" y="138074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Transcript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College, term, courses, credits, grades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498080" y="225856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2" descr="FiCreditC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781" y="2379269"/>
            <a:ext cx="307238" cy="30723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29600" y="222199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ID / passport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229600" y="2532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Name, date of birth, country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7498080" y="3099816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3" descr="Fi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3220517"/>
            <a:ext cx="307238" cy="30723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29600" y="30632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English test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0" y="33741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Test type and scores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498080" y="3941064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4" descr="FiBookOp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4061765"/>
            <a:ext cx="30723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229600" y="39044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Syllabus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8229600" y="42153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Course, topics, outcomes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7498080" y="4892040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18"/>
          <p:cNvSpPr txBox="1"/>
          <p:nvPr/>
        </p:nvSpPr>
        <p:spPr>
          <a:xfrm>
            <a:off x="7680960" y="489204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70816"/>
                </a:solidFill>
              </a:rPr>
              <a:t>Also checks the profile. </a:t>
            </a:r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 transcript from a college that does not match the profile is flagged; blanks in the profile (GPA, prior college, country) are filled.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Auto-capture into the transfer request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0" descr="Fi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788932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Transcript read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Smart Upload, confirmed by the student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108960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01568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0168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5" name="Image 1" descr="Fi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92" y="17889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168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Courses extracted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3630168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Code, title, credits, grade, term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1888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254496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83096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2" descr="FiMouse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820" y="1788932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483096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"Use these courses"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6483096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One click on Submit Transcript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814816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07424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336024" y="1664208"/>
            <a:ext cx="566928" cy="56692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7" name="Image 3" descr="FiEdit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0748" y="1788932"/>
            <a:ext cx="317480" cy="31748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336024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Request pre-filled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9336024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Source college + every course row</a:t>
            </a:r>
            <a:endParaRPr lang="en-US" sz="1300" dirty="0"/>
          </a:p>
        </p:txBody>
      </p:sp>
      <p:pic>
        <p:nvPicPr>
          <p:cNvPr id="30" name="Extracted courses from Smart Upload" descr="Extracted courses from Smart Uplo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49040"/>
            <a:ext cx="5852160" cy="25146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31" name="Shape 23"/>
          <p:cNvSpPr/>
          <p:nvPr/>
        </p:nvSpPr>
        <p:spPr>
          <a:xfrm>
            <a:off x="548640" y="3749040"/>
            <a:ext cx="5852160" cy="25146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675120" y="3749040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690372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the student only chooses</a:t>
            </a:r>
            <a:endParaRPr lang="en-US" sz="1700" dirty="0"/>
          </a:p>
        </p:txBody>
      </p:sp>
      <p:sp>
        <p:nvSpPr>
          <p:cNvPr id="34" name="Text 26"/>
          <p:cNvSpPr txBox="1"/>
          <p:nvPr/>
        </p:nvSpPr>
        <p:spPr>
          <a:xfrm>
            <a:off x="6903720" y="434340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University to transfer to (from the profile target)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Program to join, with its credits and course count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Optional syllabus or catalogue link per course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submit for transfer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Mobile request status screenshot" descr="Mobile request statu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7744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237744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9" name="Student dashboard screenshot" descr="Student 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484632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3200400" y="1371600"/>
            <a:ext cx="484632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32104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lanes at upload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1737360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Applied, likely, needs syllabus, not eligible: per course, not "0 units".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25786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Top-3 suggestions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2944368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Each pending course shows the ranked BU candidates with a reason.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378561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tracker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21040" y="4151376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Which stage, who owns it, notes beside it. Updates without reload.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49926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→ To credits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5358384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Degree progress: secure, likely, pending, not counted against the cap.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triage does with Maya's six courses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1325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325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737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" y="1737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120640" y="1847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1847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CS 111 · 4 cr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4231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" y="2423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120640" y="25328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25328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4231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MA 123 · 4 cr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1089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2960" y="31089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120640" y="32186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2064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31089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EC 101 · 3 cr as taken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7947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2960" y="3794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39044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39044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7947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112 ranked first · CS dept decides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4805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2960" y="4480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5120640" y="45902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206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406640" y="44805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5166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22960" y="5166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5120640" y="5276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120640" y="5276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5166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vs MA 242 (4) · evaluator decides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11 credits secure the moment she submits (4 + 4 + 3); every pending course has a named next step.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evaluator workbench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Faculty / Admin</a:t>
            </a:r>
            <a:endParaRPr lang="en-US" sz="1300" dirty="0"/>
          </a:p>
        </p:txBody>
      </p:sp>
      <p:pic>
        <p:nvPicPr>
          <p:cNvPr id="7" name="Request review screenshot" descr="Request re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731520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381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17373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Syllabus topics next to the BU course, shared terms highlighted, overlap % and credit math.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971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in one click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Equivalent, elective, no credit or "must take at BU". Accept every suggestion ≥ X% at once.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4572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9377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AI and rules never reject. Admins see only their university; outgoing requests are read-only.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decision makes the next one faster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Faculty / Admin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0" descr="FiCheck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770644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1  Faculty decides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CSC 220 = CAS CS 112, 4 cr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977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06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1" descr="Fi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964" y="1770644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06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2  Equivalency saved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Reusable, with effective dates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977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206240" y="4114800"/>
            <a:ext cx="566928" cy="56692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9" name="Image 2" descr="Fi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964" y="4239524"/>
            <a:ext cx="317480" cy="317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 Next student: instant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Noah Chen's CSC 220 is applied, no review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4" name="Image 3" descr="FiBook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4239524"/>
            <a:ext cx="317480" cy="31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7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4  Skills learn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7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Overrides become suggested playbook rules (AI Controls → Learning)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3566160" y="242316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458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 flipH="1">
            <a:off x="3566160" y="489204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 flipV="1">
            <a:off x="2029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731520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7543800" y="1554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system learns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7543800" y="2057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Equivalencies table: every approved decision, with start and end dates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Cross-student match cache: the same external course is never matched twice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Learned skills: mined from faculty overrides and repeated elective / no-credit choices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Playbook skills: editable instructions sent to whichever AI provider is active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Nothing is automatic: a person adds each learned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stages you can configure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Admin</a:t>
            </a:r>
            <a:endParaRPr lang="en-US" sz="1300" dirty="0"/>
          </a:p>
        </p:txBody>
      </p:sp>
      <p:pic>
        <p:nvPicPr>
          <p:cNvPr id="7" name="Workflow designer screenshot" descr="Workflow design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722376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4480560" y="1371600"/>
            <a:ext cx="722376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141732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0" name="Image 1" descr="Fi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17" y="1533997"/>
            <a:ext cx="296997" cy="29699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13716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Stages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234440" y="1709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System, review or approval; agent task per stage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386584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2" descr="Fi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17" y="2503261"/>
            <a:ext cx="296997" cy="29699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Approver groups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234440" y="267919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Role, group or person; per university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3355848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3" descr="Fi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17" y="3472525"/>
            <a:ext cx="296997" cy="29699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33101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SLAs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234440" y="36484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Overdue stages escalate once, by email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48640" y="4325112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4" descr="FiCheckCir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17" y="4441789"/>
            <a:ext cx="296997" cy="29699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34440" y="42793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Auto-approve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234440" y="46177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Accept suggestions ≥ a threshold; never rejects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48640" y="5294376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5" descr="FiSkipForw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17" y="5411053"/>
            <a:ext cx="296997" cy="29699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234440" y="524865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Bypass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1234440" y="55869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Skip one stage, or accept the whole request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stats for the Super Admin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Super admin</a:t>
            </a:r>
            <a:endParaRPr lang="en-US" sz="1300" dirty="0"/>
          </a:p>
        </p:txBody>
      </p:sp>
      <p:pic>
        <p:nvPicPr>
          <p:cNvPr id="7" name="Super admin dashboard screenshot" descr="Super admin 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9" name="AI Controls screenshot" descr="AI Control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621792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Dashboard: operations and AI agents, kept apart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621792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AI Controls: usage, $ by request, settings, playbook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Spent this month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31520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against a monthly budget meter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364992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3547872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$ spent by request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47872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matching · documents · briefs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81344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364224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Efficiency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364224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tokens avoided, cache hits, calls skipped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997696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9180576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Speed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average and slowest response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behind TransferHub</a:t>
            </a:r>
            <a:endParaRPr lang="en-US" sz="3000" dirty="0"/>
          </a:p>
        </p:txBody>
      </p:sp>
      <p:sp>
        <p:nvSpPr>
          <p:cNvPr id="4" name="Team card Raghuram Raichooti"/>
          <p:cNvSpPr/>
          <p:nvPr/>
        </p:nvSpPr>
        <p:spPr>
          <a:xfrm>
            <a:off x="54864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5" name="Image 0" descr="Photo of Raghuram Raichoo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1463040" cy="1463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868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Raghuram Raichooti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7724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3869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rraichooti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12" name="Team card Sankara Varaprasad"/>
          <p:cNvSpPr/>
          <p:nvPr/>
        </p:nvSpPr>
        <p:spPr>
          <a:xfrm>
            <a:off x="278892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hoto of Sankara Varapras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91640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310896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288036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Sankara Varaprasad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301752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01752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288036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801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288036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skvenkobarao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0" name="Team card Swetha Katkkoori"/>
          <p:cNvSpPr/>
          <p:nvPr/>
        </p:nvSpPr>
        <p:spPr>
          <a:xfrm>
            <a:off x="502920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1" name="Image 2" descr="Photo of Swetha Katkkoor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691640"/>
            <a:ext cx="1463040" cy="14630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534924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12064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Swetha Katkkoori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25780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25780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4126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12064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skatkkoori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8" name="Team card Harshil Shah Parimal"/>
          <p:cNvSpPr/>
          <p:nvPr/>
        </p:nvSpPr>
        <p:spPr>
          <a:xfrm>
            <a:off x="726948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9" name="Image 3" descr="Photo of Harshil Shah Parim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91640"/>
            <a:ext cx="1463040" cy="146304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758952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36092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Harshil Shah Parimal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749808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49808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2458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36092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hparimal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36" name="Team card Shravani Bollu"/>
          <p:cNvSpPr/>
          <p:nvPr/>
        </p:nvSpPr>
        <p:spPr>
          <a:xfrm>
            <a:off x="9509760" y="1417320"/>
            <a:ext cx="2103120" cy="379476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37" name="Image 4" descr="Photo of Shravani Boll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691640"/>
            <a:ext cx="1463040" cy="146304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82980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960120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Shravani Bollu</a:t>
            </a:r>
            <a:endParaRPr lang="en-US" sz="1700" dirty="0"/>
          </a:p>
        </p:txBody>
      </p:sp>
      <p:sp>
        <p:nvSpPr>
          <p:cNvPr id="40" name="Shape 32"/>
          <p:cNvSpPr/>
          <p:nvPr/>
        </p:nvSpPr>
        <p:spPr>
          <a:xfrm>
            <a:off x="973836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73836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9601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2473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60120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sbollu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pic>
        <p:nvPicPr>
          <p:cNvPr id="44" name="Image 5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69280"/>
            <a:ext cx="1030310" cy="68580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853270" y="56692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1A1D"/>
                </a:solidFill>
              </a:rPr>
              <a:t>Clopay CodeCrafters  ·  Evoke FDE AI Hackathon 5.0  ·  Problem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The department still decides.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731520" y="251460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5" name="Image 0" descr="Fi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675534"/>
            <a:ext cx="409651" cy="40965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691640" y="2514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Source code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691640" y="284378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https://github.com/Evoke-Hackathon-2026/Clopay-CodeCrafters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731520" y="356616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9" name="Image 1" descr="Fi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727094"/>
            <a:ext cx="409651" cy="4096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9164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Live site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691640" y="389534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731520" y="480060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TransferHub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4864608"/>
            <a:ext cx="2834640" cy="1417320"/>
          </a:xfrm>
          <a:prstGeom prst="rect">
            <a:avLst/>
          </a:prstGeom>
        </p:spPr>
      </p:pic>
      <p:pic>
        <p:nvPicPr>
          <p:cNvPr id="14" name="Image 3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663" y="2377440"/>
            <a:ext cx="3020217" cy="2011680"/>
          </a:xfrm>
          <a:prstGeom prst="rect">
            <a:avLst/>
          </a:prstGeom>
        </p:spPr>
      </p:pic>
      <p:pic>
        <p:nvPicPr>
          <p:cNvPr id="15" name="Image 4" descr="Raghuram Raichoot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5120640"/>
            <a:ext cx="777240" cy="777240"/>
          </a:xfrm>
          <a:prstGeom prst="rect">
            <a:avLst/>
          </a:prstGeom>
        </p:spPr>
      </p:pic>
      <p:pic>
        <p:nvPicPr>
          <p:cNvPr id="16" name="Image 5" descr="Sankara Varapras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5120640"/>
            <a:ext cx="777240" cy="777240"/>
          </a:xfrm>
          <a:prstGeom prst="rect">
            <a:avLst/>
          </a:prstGeom>
        </p:spPr>
      </p:pic>
      <p:pic>
        <p:nvPicPr>
          <p:cNvPr id="17" name="Image 6" descr="Swetha Katkkoor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78040" y="5120640"/>
            <a:ext cx="777240" cy="777240"/>
          </a:xfrm>
          <a:prstGeom prst="rect">
            <a:avLst/>
          </a:prstGeom>
        </p:spPr>
      </p:pic>
      <p:pic>
        <p:nvPicPr>
          <p:cNvPr id="18" name="Image 7" descr="Harshil Shah Parim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5120640"/>
            <a:ext cx="777240" cy="777240"/>
          </a:xfrm>
          <a:prstGeom prst="rect">
            <a:avLst/>
          </a:prstGeom>
        </p:spPr>
      </p:pic>
      <p:pic>
        <p:nvPicPr>
          <p:cNvPr id="19" name="Image 8" descr="Shravani Bollu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6840" y="5120640"/>
            <a:ext cx="777240" cy="777240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534924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</a:rPr>
              <a:t>Clopay CodeCrafters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Clopay CodeCrafters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Live demo</dc:title>
  <dc:subject>PptxGenJS Presentation</dc:subject>
  <dc:creator>Clopay CodeCrafters</dc:creator>
  <cp:lastModifiedBy>Clopay CodeCrafters</cp:lastModifiedBy>
  <cp:revision>1</cp:revision>
  <dcterms:created xsi:type="dcterms:W3CDTF">2026-10-29T18:06:06Z</dcterms:created>
  <dcterms:modified xsi:type="dcterms:W3CDTF">2026-10-29T18:06:06Z</dcterms:modified>
</cp:coreProperties>
</file>