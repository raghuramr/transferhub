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84abbed-dbeb-41f4-1cb2-345d92cbb0b4}">
          <p14:sldIdLst>
            <p14:sldId id="256"/>
            <p14:sldId id="257"/>
          </p14:sldIdLst>
        </p14:section>
        <p14:section name="Student" id="{3d1d5921-2b91-e9d4-6ea3-c6019b37b0d2}">
          <p14:sldIdLst>
            <p14:sldId id="258"/>
            <p14:sldId id="259"/>
            <p14:sldId id="260"/>
            <p14:sldId id="261"/>
            <p14:sldId id="262"/>
          </p14:sldIdLst>
        </p14:section>
        <p14:section name="Staff" id="{0a86f1c8-7414-677b-136e-a4dbec5d6464}">
          <p14:sldIdLst>
            <p14:sldId id="263"/>
            <p14:sldId id="264"/>
            <p14:sldId id="265"/>
          </p14:sldIdLst>
        </p14:section>
        <p14:section name="Super admin" id="{d3dc4995-2586-e6f2-432f-23f96f16b1ec}">
          <p14:sldIdLst>
            <p14:sldId id="266"/>
          </p14:sldIdLst>
        </p14:section>
        <p14:section name="Close" id="{8003a382-462a-d67e-55cf-c1d9af82711d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8 minutes. Two browser profiles: student and staff. Login page has one-click demo login buttons, so no passwords are typed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steps, student first, then staff, then the super admin view. Data is synthetic.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/register. Six built-in steps plus any extra steps the admin adds through the student-registration Custom Form. The student is signed in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 Upload: drop PDFs or photos (or use the phone camera). Each file is classified and read; the student checks and confirms. Without an AI key the built-in rules reader does it, at lower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Submit Transcript the student picks "Use these courses" from a transcript Smart Upload already read. Nothing is retyped. Target university and program are pre-selected from the profile; each program shows its credits.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submit every course is triaged at once (sp_TriageCourse + the BU policy engine). The student watches a live tracker (server-sent events) with notes beside each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known equivalencies apply instantly. Two go to the CS department with ranked suggestions. The quarter course is converted 4 x 2/3 = 2.66.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 in as faculty (one-click demo login), open the Approval queue, the Bay State request, Faculty review stage. Compare CSC 220 with CAS CS 112 and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Press "Add second student" on the Demo scenario page: Noah Chen, also CSC 220 from Bay State, is applied automatically with no review. AI Controls &gt; Learning turns repeated faculty corrections into suggested playbook rules; an admin adds them with a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Workflows (super admin settings, or /admin/workflows). The default: request received → intake and AI match → faculty review → finance → first approver → final approver → completed. Each university can copy it and change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Super admin dashboard: an "AI agents" block sits under Transfer operations, separate from the regular counts. AI Controls shows the same numbers in detail: spent this month, $ spent by request (matching / documents / briefs), tokens avoided, cache hits, response times. No AI key yet, so live AI spend is zero; the rules engine is logged at no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Clopay CodeCrafters: two Microsoft-practice and three UI-practice engineers from Evoke Technologies.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Invite questions. Repo and live site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live demo  ·  Clopay CodeCrafters  ·  screenshots use synthetic data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_DARK">
    <p:bg>
      <p:bgPr>
        <a:solidFill>
          <a:srgbClr val="3A04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ferhub.wcubeprojects.in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jpe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voke-Hackathon-2026/Clopay-CodeCrafters" TargetMode="External"/><Relationship Id="rId4" Type="http://schemas.openxmlformats.org/officeDocument/2006/relationships/hyperlink" Target="https://transferhub.wcubeprojects.in/" TargetMode="External"/><Relationship Id="rId1" Type="http://schemas.openxmlformats.org/officeDocument/2006/relationships/image" Target="../media/image-13-1.png"/><Relationship Id="rId3" Type="http://schemas.openxmlformats.org/officeDocument/2006/relationships/image" Target="../media/image-13-2.png"/><Relationship Id="rId5" Type="http://schemas.openxmlformats.org/officeDocument/2006/relationships/image" Target="../media/image-13-3.png"/><Relationship Id="rId6" Type="http://schemas.openxmlformats.org/officeDocument/2006/relationships/image" Target="../media/image-13-4.png"/><Relationship Id="rId7" Type="http://schemas.openxmlformats.org/officeDocument/2006/relationships/image" Target="../media/image-13-5.png"/><Relationship Id="rId8" Type="http://schemas.openxmlformats.org/officeDocument/2006/relationships/image" Target="../media/image-13-6.png"/><Relationship Id="rId9" Type="http://schemas.openxmlformats.org/officeDocument/2006/relationships/image" Target="../media/image-13-7.png"/><Relationship Id="rId10" Type="http://schemas.openxmlformats.org/officeDocument/2006/relationships/image" Target="../media/image-13-8.png"/><Relationship Id="rId11" Type="http://schemas.openxmlformats.org/officeDocument/2006/relationships/image" Target="../media/image-13-9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4864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TransferHub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94360"/>
            <a:ext cx="3291840" cy="1645920"/>
          </a:xfrm>
          <a:prstGeom prst="rect">
            <a:avLst/>
          </a:prstGeom>
        </p:spPr>
      </p:pic>
      <p:pic>
        <p:nvPicPr>
          <p:cNvPr id="5" name="Image 1" descr="Clopay CodeCrafter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11480"/>
            <a:ext cx="2743200" cy="18288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40080" y="26060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one transfer, end to end</a:t>
            </a:r>
            <a:endParaRPr lang="en-US" sz="4600" dirty="0"/>
          </a:p>
        </p:txBody>
      </p:sp>
      <p:sp>
        <p:nvSpPr>
          <p:cNvPr id="7" name="Text 2"/>
          <p:cNvSpPr txBox="1"/>
          <p:nvPr/>
        </p:nvSpPr>
        <p:spPr>
          <a:xfrm>
            <a:off x="640080" y="36118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8C9CD"/>
                </a:solidFill>
              </a:rPr>
              <a:t>From a new student account to a department decision that teaches the system.</a:t>
            </a:r>
            <a:endParaRPr lang="en-US" sz="2200" dirty="0"/>
          </a:p>
        </p:txBody>
      </p:sp>
      <p:sp>
        <p:nvSpPr>
          <p:cNvPr id="8" name="Text 3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441"/>
                </a:solidFill>
              </a:rPr>
              <a:t>Clopay CodeCrafters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   ·   Evoke FDE AI Hackathon 5.0   ·   Problem 1 · Boston University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E8C9CD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https://transferhub.wcubeprojects.in/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see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144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Create the user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Student self-registration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Student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1488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146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146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Upload the documents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22402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Smart Upload reads them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Student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7490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1148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1148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38404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Auto-capture into the request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Courses pre-filled, target set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Student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3492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7150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150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600" dirty="0"/>
          </a:p>
        </p:txBody>
      </p:sp>
      <p:sp>
        <p:nvSpPr>
          <p:cNvPr id="25" name="Text 22"/>
          <p:cNvSpPr txBox="1"/>
          <p:nvPr/>
        </p:nvSpPr>
        <p:spPr>
          <a:xfrm>
            <a:off x="54406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Submit for transfer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406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Live tracker, lanes, top-3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4406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Student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9494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315200" y="182880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52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A04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6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Approve and decide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70408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C9CD"/>
                </a:solidFill>
              </a:rPr>
              <a:t>Side-by-side, learning loop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0408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A441"/>
                </a:solidFill>
              </a:rPr>
              <a:t>Faculty / Admin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5496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89154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9154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86410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Configure the workflow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6410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Stages, approvers, SLAs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6410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Admin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10149840" y="1600200"/>
            <a:ext cx="1463040" cy="3291840"/>
          </a:xfrm>
          <a:prstGeom prst="roundRect">
            <a:avLst>
              <a:gd name="adj" fmla="val 75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10515600" y="182880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515600" y="1828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600" dirty="0"/>
          </a:p>
        </p:txBody>
      </p:sp>
      <p:sp>
        <p:nvSpPr>
          <p:cNvPr id="43" name="Text 40"/>
          <p:cNvSpPr txBox="1"/>
          <p:nvPr/>
        </p:nvSpPr>
        <p:spPr>
          <a:xfrm>
            <a:off x="10241280" y="274320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AI stats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1024128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Spend and usage, kept apart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241280" y="4434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5A5D"/>
                </a:solidFill>
              </a:rPr>
              <a:t>Super admin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The story.  </a:t>
            </a:r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Maya Rivera moves from Bay State Community College to Boston University with six courses: three known, two "maybe", one quarter-system.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the user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Student</a:t>
            </a:r>
            <a:endParaRPr lang="en-US" sz="1300" dirty="0"/>
          </a:p>
        </p:txBody>
      </p:sp>
      <p:pic>
        <p:nvPicPr>
          <p:cNvPr id="7" name="Registration stepper screenshot" descr="Registration stepper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48640" y="1371600"/>
            <a:ext cx="694944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863840" y="1490472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503920" y="14173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Account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863840" y="2203704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2203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8503920" y="213055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Application: target university, program, school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7863840" y="2916936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863840" y="2916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8503920" y="2843784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Contact and emergency contact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7863840" y="3630168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863840" y="3630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503920" y="3557016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Education history, every college + AP / IB / A-level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7863840" y="4343400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8638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503920" y="4270248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Language and outside-US check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7863840" y="5056632"/>
            <a:ext cx="457200" cy="45720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863840" y="5056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498348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Review, then signed straight in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7863840" y="5715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A5D"/>
                </a:solidFill>
              </a:rPr>
              <a:t>BU rules need this as structured data: applicant type sets the credit cap.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Uploading the documents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Student</a:t>
            </a:r>
            <a:endParaRPr lang="en-US" sz="1300" dirty="0"/>
          </a:p>
        </p:txBody>
      </p:sp>
      <p:pic>
        <p:nvPicPr>
          <p:cNvPr id="7" name="Smart upload screenshot" descr="Smart uploa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58368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48640" y="1371600"/>
            <a:ext cx="658368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498080" y="141732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0" name="Image 1" descr="Fi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781" y="1538021"/>
            <a:ext cx="307238" cy="30723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0" y="138074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Transcript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22960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College, term, courses, credits, grades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7498080" y="2258568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4" name="Image 2" descr="FiCreditC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8781" y="2379269"/>
            <a:ext cx="307238" cy="30723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229600" y="222199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ID / passport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8229600" y="25328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Name, date of birth, country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7498080" y="3099816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8" name="Image 3" descr="FiMessage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781" y="3220517"/>
            <a:ext cx="307238" cy="30723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229600" y="306324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English test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8229600" y="337413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Test type and scores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7498080" y="3941064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4" descr="FiBookOpe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781" y="4061765"/>
            <a:ext cx="307238" cy="30723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229600" y="390448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Syllabus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8229600" y="421538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Course, topics, outcomes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7498080" y="4892040"/>
            <a:ext cx="4114800" cy="1325880"/>
          </a:xfrm>
          <a:prstGeom prst="roundRect">
            <a:avLst>
              <a:gd name="adj" fmla="val 827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18"/>
          <p:cNvSpPr txBox="1"/>
          <p:nvPr/>
        </p:nvSpPr>
        <p:spPr>
          <a:xfrm>
            <a:off x="7680960" y="489204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70816"/>
                </a:solidFill>
              </a:rPr>
              <a:t>Also checks the profile. </a:t>
            </a:r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A transcript from a college that does not match the profile is flagged; blanks in the profile (GPA, prior college, country) are filled.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Auto-capture into the transfer request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Student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664208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9" name="Image 0" descr="FiUp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1788932"/>
            <a:ext cx="317480" cy="317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331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Transcript read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974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Smart Upload, confirmed by the student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108960" y="2441448"/>
            <a:ext cx="246888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401568" y="146304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30168" y="1664208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5" name="Image 1" descr="Fi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892" y="1788932"/>
            <a:ext cx="317480" cy="317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168" y="2331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Courses extracted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3630168" y="26974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Code, title, credits, grade, term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961888" y="2441448"/>
            <a:ext cx="246888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254496" y="146304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83096" y="1664208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1" name="Image 2" descr="FiMousePo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820" y="1788932"/>
            <a:ext cx="317480" cy="317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483096" y="2331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"Use these courses"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6483096" y="26974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One click on Submit Transcript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814816" y="2441448"/>
            <a:ext cx="246888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9107424" y="1463040"/>
            <a:ext cx="2514600" cy="1965960"/>
          </a:xfrm>
          <a:prstGeom prst="roundRect">
            <a:avLst>
              <a:gd name="adj" fmla="val 5581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336024" y="1664208"/>
            <a:ext cx="566928" cy="566928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7" name="Image 3" descr="FiEdit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0748" y="1788932"/>
            <a:ext cx="317480" cy="31748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336024" y="23317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Request pre-filled</a:t>
            </a:r>
            <a:endParaRPr lang="en-US" sz="1700" dirty="0"/>
          </a:p>
        </p:txBody>
      </p:sp>
      <p:sp>
        <p:nvSpPr>
          <p:cNvPr id="29" name="Text 22"/>
          <p:cNvSpPr txBox="1"/>
          <p:nvPr/>
        </p:nvSpPr>
        <p:spPr>
          <a:xfrm>
            <a:off x="9336024" y="269748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C9CD"/>
                </a:solidFill>
              </a:rPr>
              <a:t>Source college + every course row</a:t>
            </a:r>
            <a:endParaRPr lang="en-US" sz="1300" dirty="0"/>
          </a:p>
        </p:txBody>
      </p:sp>
      <p:pic>
        <p:nvPicPr>
          <p:cNvPr id="30" name="Extracted courses from Smart Upload" descr="Extracted courses from Smart Uplo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49040"/>
            <a:ext cx="5852160" cy="251460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31" name="Shape 23"/>
          <p:cNvSpPr/>
          <p:nvPr/>
        </p:nvSpPr>
        <p:spPr>
          <a:xfrm>
            <a:off x="548640" y="3749040"/>
            <a:ext cx="5852160" cy="25146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6675120" y="3749040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690372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the student only chooses</a:t>
            </a:r>
            <a:endParaRPr lang="en-US" sz="1700" dirty="0"/>
          </a:p>
        </p:txBody>
      </p:sp>
      <p:sp>
        <p:nvSpPr>
          <p:cNvPr id="34" name="Text 26"/>
          <p:cNvSpPr txBox="1"/>
          <p:nvPr/>
        </p:nvSpPr>
        <p:spPr>
          <a:xfrm>
            <a:off x="6903720" y="4343400"/>
            <a:ext cx="4572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University to transfer to (from the profile target)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Program to join, with its credits and course count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Optional syllabus or catalogue link per course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submit for transfer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Student</a:t>
            </a:r>
            <a:endParaRPr lang="en-US" sz="1300" dirty="0"/>
          </a:p>
        </p:txBody>
      </p:sp>
      <p:pic>
        <p:nvPicPr>
          <p:cNvPr id="7" name="Mobile request status screenshot" descr="Mobile request statu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37744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48640" y="1371600"/>
            <a:ext cx="237744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pic>
        <p:nvPicPr>
          <p:cNvPr id="9" name="Student dashboard screenshot" descr="Student dashboard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484632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10" name="Shape 5"/>
          <p:cNvSpPr/>
          <p:nvPr/>
        </p:nvSpPr>
        <p:spPr>
          <a:xfrm>
            <a:off x="3200400" y="1371600"/>
            <a:ext cx="484632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321040" y="1371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Triage lanes at upload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1737360"/>
            <a:ext cx="33832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Applied, likely, needs syllabus, not eligible: per course, not "0 units".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257860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Top-3 suggestions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2944368"/>
            <a:ext cx="33832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Each pending course shows the ranked BU candidates with a reason.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321040" y="378561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tracker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321040" y="4151376"/>
            <a:ext cx="33832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Which stage, who owns it, notes beside it. Updates without reload.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49926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→ To credits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5358384"/>
            <a:ext cx="33832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Degree progress: secure, likely, pending, not counted against the cap.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triage does with Maya's six courses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Student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1325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External course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1325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Lane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325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What the student sees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7373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2960" y="17373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110  Intro to Programming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120640" y="18470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20640" y="18470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17373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CAS CS 111 · 4 cr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4231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2960" y="24231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MAT 210  Calculus I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120640" y="25328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20640" y="25328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24231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CAS MA 123 · 4 cr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1089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2960" y="31089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ECO 101  Microeconomics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120640" y="32186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20640" y="32186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31089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CAS EC 101 · 3 cr as taken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7947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2960" y="37947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220  Data Structures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39044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39044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Likely match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37947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CS 112 ranked first · CS dept decides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4805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22960" y="44805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240  Discrete Math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5120640" y="45902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206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Needs syllabus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406640" y="44805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CS 131 or MA 293 · evaluator picks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516636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22960" y="516636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CIS 150  Linear Algebra (quarter)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5120640" y="5276088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120640" y="52760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 qtr → 2.66 cr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7406640" y="51663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vs MA 242 (4) · evaluator decides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11 credits secure the moment she submits (4 + 4 + 3); every pending course has a named next step.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Approval: the evaluator workbench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Faculty / Admin</a:t>
            </a:r>
            <a:endParaRPr lang="en-US" sz="1300" dirty="0"/>
          </a:p>
        </p:txBody>
      </p:sp>
      <p:pic>
        <p:nvPicPr>
          <p:cNvPr id="7" name="Request review screenshot" descr="Request review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31520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48640" y="1371600"/>
            <a:ext cx="731520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138160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Side-by-side compare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138160" y="17373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Syllabus topics next to the BU course, shared terms highlighted, overlap % and credit math.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29718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in one click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3337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Equivalent, elective, no credit or "must take at BU". Accept every suggestion ≥ X% at once.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138160" y="45720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decides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8138160" y="49377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AI and rules never reject. Admins see only their university; outgoing requests are read-only.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decision makes the next one faster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Faculty / Admin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9" name="Image 0" descr="FiCheck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964" y="1770644"/>
            <a:ext cx="317480" cy="317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1  Faculty decides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6517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CSC 220 = CAS CS 112, 4 cr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977640" y="141732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06240" y="164592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4" name="Image 1" descr="Fi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964" y="1770644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06240" y="22860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2  Equivalency saved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26517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Reusable, with effective dates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3977640" y="388620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206240" y="4114800"/>
            <a:ext cx="566928" cy="566928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19" name="Image 2" descr="Fi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964" y="4239524"/>
            <a:ext cx="317480" cy="317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206240" y="4754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3  Next student: instant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51206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C9CD"/>
                </a:solidFill>
              </a:rPr>
              <a:t>Noah Chen's CSC 220 is applied, no review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48640" y="3886200"/>
            <a:ext cx="297180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4" name="Image 3" descr="FiBook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964" y="4239524"/>
            <a:ext cx="317480" cy="3174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77240" y="4754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4  Skills learn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777240" y="51206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Overrides become suggested playbook rules (AI Controls → Learning)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3566160" y="2423160"/>
            <a:ext cx="365760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5458968" y="3474720"/>
            <a:ext cx="914" cy="36576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 flipH="1">
            <a:off x="3566160" y="4892040"/>
            <a:ext cx="365760" cy="914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0" name="Shape 23"/>
          <p:cNvSpPr/>
          <p:nvPr/>
        </p:nvSpPr>
        <p:spPr>
          <a:xfrm flipV="1">
            <a:off x="2029968" y="3474720"/>
            <a:ext cx="914" cy="36576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7315200" y="1417320"/>
            <a:ext cx="4297680" cy="448056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7543800" y="15544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system learns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7543800" y="2057400"/>
            <a:ext cx="39319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Equivalencies table: every approved decision, with start and end dates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Cross-student match cache: the same external course is never matched twice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Learned skills: mined from faculty overrides and repeated elective / no-credit choices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Playbook skills: editable instructions sent to whichever AI provider is active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B1A1D"/>
                </a:solidFill>
              </a:rPr>
              <a:t>Nothing is automatic: a person adds each learned rule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stages you can configure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Admin</a:t>
            </a:r>
            <a:endParaRPr lang="en-US" sz="1300" dirty="0"/>
          </a:p>
        </p:txBody>
      </p:sp>
      <p:pic>
        <p:nvPicPr>
          <p:cNvPr id="7" name="Workflow designer screenshot" descr="Workflow designer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722376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4480560" y="1371600"/>
            <a:ext cx="7223760" cy="484632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1417320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0" name="Image 1" descr="Fi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17" y="1533997"/>
            <a:ext cx="296997" cy="29699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137160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Stages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234440" y="1709928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System, review or approval; agent task per stage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2386584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4" name="Image 2" descr="Fi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17" y="2503261"/>
            <a:ext cx="296997" cy="29699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34440" y="234086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Approver groups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234440" y="267919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Role, group or person; per university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3355848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8" name="Image 3" descr="Fi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17" y="3472525"/>
            <a:ext cx="296997" cy="29699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34440" y="331012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SLAs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234440" y="364845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Overdue stages escalate once, by email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548640" y="4325112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4" descr="FiCheckCirc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17" y="4441789"/>
            <a:ext cx="296997" cy="29699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234440" y="42793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Auto-approve</a:t>
            </a:r>
            <a:endParaRPr lang="en-US" sz="1600" dirty="0"/>
          </a:p>
        </p:txBody>
      </p:sp>
      <p:sp>
        <p:nvSpPr>
          <p:cNvPr id="24" name="Text 16"/>
          <p:cNvSpPr txBox="1"/>
          <p:nvPr/>
        </p:nvSpPr>
        <p:spPr>
          <a:xfrm>
            <a:off x="1234440" y="46177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Accept suggestions ≥ a threshold; never rejects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48640" y="5294376"/>
            <a:ext cx="530352" cy="530352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6" name="Image 5" descr="FiSkipForwar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317" y="5411053"/>
            <a:ext cx="296997" cy="29699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234440" y="524865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Bypass</a:t>
            </a:r>
            <a:endParaRPr lang="en-US" sz="1600" dirty="0"/>
          </a:p>
        </p:txBody>
      </p:sp>
      <p:sp>
        <p:nvSpPr>
          <p:cNvPr id="28" name="Text 19"/>
          <p:cNvSpPr txBox="1"/>
          <p:nvPr/>
        </p:nvSpPr>
        <p:spPr>
          <a:xfrm>
            <a:off x="1234440" y="5586984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Skip one stage, or accept the whole request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stats for the Super Admin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0012680" y="429768"/>
            <a:ext cx="658368" cy="658368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12680" y="429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0744200" y="42976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Super admin</a:t>
            </a:r>
            <a:endParaRPr lang="en-US" sz="1300" dirty="0"/>
          </a:p>
        </p:txBody>
      </p:sp>
      <p:pic>
        <p:nvPicPr>
          <p:cNvPr id="7" name="Super admin dashboard screenshot" descr="Super admin dashbo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20040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548640" y="1371600"/>
            <a:ext cx="5486400" cy="32004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pic>
        <p:nvPicPr>
          <p:cNvPr id="9" name="AI Controls screenshot" descr="AI Controls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320040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2000"/>
              </a:srgbClr>
            </a:outerShdw>
          </a:effectLst>
        </p:spPr>
      </p:pic>
      <p:sp>
        <p:nvSpPr>
          <p:cNvPr id="10" name="Shape 5"/>
          <p:cNvSpPr/>
          <p:nvPr/>
        </p:nvSpPr>
        <p:spPr>
          <a:xfrm>
            <a:off x="6217920" y="1371600"/>
            <a:ext cx="5486400" cy="320040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D8B9B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4864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Dashboard: operations and AI agents, kept apart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621792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AI Controls: usage, $ by request, settings, playbook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48640" y="507492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3152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Spent this month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731520" y="5532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against a monthly budget meter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3364992" y="507492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3547872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$ spent by request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3547872" y="5532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matching · documents · briefs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81344" y="507492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6364224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Efficiency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364224" y="5532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tokens avoided, cache hits, calls skipped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8997696" y="507492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9180576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Speed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9180576" y="5532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average and slowest response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behind TransferHub</a:t>
            </a:r>
            <a:endParaRPr lang="en-US" sz="3000" dirty="0"/>
          </a:p>
        </p:txBody>
      </p:sp>
      <p:sp>
        <p:nvSpPr>
          <p:cNvPr id="4" name="Team card Raghuram Raichooti"/>
          <p:cNvSpPr/>
          <p:nvPr/>
        </p:nvSpPr>
        <p:spPr>
          <a:xfrm>
            <a:off x="548640" y="1417320"/>
            <a:ext cx="2103120" cy="416052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5" name="Image 0" descr="Photo of Raghuram Raichoo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91640"/>
            <a:ext cx="1463040" cy="14630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6868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Raghuram Raichooti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77724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Microsoft practice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3869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rraichooti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12" name="Team card Sankara Varaprasad"/>
          <p:cNvSpPr/>
          <p:nvPr/>
        </p:nvSpPr>
        <p:spPr>
          <a:xfrm>
            <a:off x="2788920" y="1417320"/>
            <a:ext cx="2103120" cy="416052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hoto of Sankara Varapras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691640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310896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288036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Sankara Varaprasad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301752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01752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UI practice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288036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801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288036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skvenkobarao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20" name="Team card Swetha Katkkoori"/>
          <p:cNvSpPr/>
          <p:nvPr/>
        </p:nvSpPr>
        <p:spPr>
          <a:xfrm>
            <a:off x="5029200" y="1417320"/>
            <a:ext cx="2103120" cy="416052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21" name="Image 2" descr="Photo of Swetha Katkkoor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691640"/>
            <a:ext cx="1463040" cy="14630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534924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512064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Swetha Katkkoori</a:t>
            </a:r>
            <a:endParaRPr lang="en-US" sz="1700" dirty="0"/>
          </a:p>
        </p:txBody>
      </p:sp>
      <p:sp>
        <p:nvSpPr>
          <p:cNvPr id="24" name="Shape 18"/>
          <p:cNvSpPr/>
          <p:nvPr/>
        </p:nvSpPr>
        <p:spPr>
          <a:xfrm>
            <a:off x="525780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25780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Microsoft practice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12064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4126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512064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skatkkoori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28" name="Team card Harshil Shah Parimal"/>
          <p:cNvSpPr/>
          <p:nvPr/>
        </p:nvSpPr>
        <p:spPr>
          <a:xfrm>
            <a:off x="7269480" y="1417320"/>
            <a:ext cx="2103120" cy="416052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29" name="Image 3" descr="Photo of Harshil Shah Parim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691640"/>
            <a:ext cx="1463040" cy="146304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758952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736092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Harshil Shah Parimal</a:t>
            </a:r>
            <a:endParaRPr lang="en-US" sz="1700" dirty="0"/>
          </a:p>
        </p:txBody>
      </p:sp>
      <p:sp>
        <p:nvSpPr>
          <p:cNvPr id="32" name="Shape 25"/>
          <p:cNvSpPr/>
          <p:nvPr/>
        </p:nvSpPr>
        <p:spPr>
          <a:xfrm>
            <a:off x="749808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749808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UI practice</a:t>
            </a:r>
            <a:endParaRPr lang="en-US" sz="1200" dirty="0"/>
          </a:p>
        </p:txBody>
      </p:sp>
      <p:sp>
        <p:nvSpPr>
          <p:cNvPr id="34" name="Text 27"/>
          <p:cNvSpPr txBox="1"/>
          <p:nvPr/>
        </p:nvSpPr>
        <p:spPr>
          <a:xfrm>
            <a:off x="736092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2458</a:t>
            </a:r>
            <a:endParaRPr lang="en-US" sz="1200" dirty="0"/>
          </a:p>
        </p:txBody>
      </p:sp>
      <p:sp>
        <p:nvSpPr>
          <p:cNvPr id="35" name="Text 28"/>
          <p:cNvSpPr txBox="1"/>
          <p:nvPr/>
        </p:nvSpPr>
        <p:spPr>
          <a:xfrm>
            <a:off x="736092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hparimal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sp>
        <p:nvSpPr>
          <p:cNvPr id="36" name="Team card Shravani Bollu"/>
          <p:cNvSpPr/>
          <p:nvPr/>
        </p:nvSpPr>
        <p:spPr>
          <a:xfrm>
            <a:off x="9509760" y="1417320"/>
            <a:ext cx="2103120" cy="4160520"/>
          </a:xfrm>
          <a:prstGeom prst="roundRect">
            <a:avLst>
              <a:gd name="adj" fmla="val 521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pic>
        <p:nvPicPr>
          <p:cNvPr id="37" name="Image 4" descr="Photo of Shravani Boll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0" y="1691640"/>
            <a:ext cx="1463040" cy="146304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829800" y="169164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770816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960120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Shravani Bollu</a:t>
            </a:r>
            <a:endParaRPr lang="en-US" sz="1700" dirty="0"/>
          </a:p>
        </p:txBody>
      </p:sp>
      <p:sp>
        <p:nvSpPr>
          <p:cNvPr id="40" name="Shape 32"/>
          <p:cNvSpPr/>
          <p:nvPr/>
        </p:nvSpPr>
        <p:spPr>
          <a:xfrm>
            <a:off x="9738360" y="40233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9738360" y="4023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040B"/>
                </a:solidFill>
              </a:rPr>
              <a:t>UI practice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960120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A5D"/>
                </a:solidFill>
              </a:rPr>
              <a:t>Emp. ID 2473</a:t>
            </a:r>
            <a:endParaRPr lang="en-US" sz="1200" dirty="0"/>
          </a:p>
        </p:txBody>
      </p:sp>
      <p:sp>
        <p:nvSpPr>
          <p:cNvPr id="43" name="Text 35"/>
          <p:cNvSpPr txBox="1"/>
          <p:nvPr/>
        </p:nvSpPr>
        <p:spPr>
          <a:xfrm>
            <a:off x="9601200" y="4782312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sbollu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1A1D"/>
                </a:solidFill>
              </a:rPr>
              <a:t>@evoketechnologies.com</a:t>
            </a:r>
            <a:endParaRPr lang="en-US" sz="1100" dirty="0"/>
          </a:p>
        </p:txBody>
      </p:sp>
      <p:pic>
        <p:nvPicPr>
          <p:cNvPr id="44" name="Image 5" descr="Clopay CodeCrafters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669280"/>
            <a:ext cx="1027966" cy="68580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1850926" y="56692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1A1D"/>
                </a:solidFill>
              </a:rPr>
              <a:t>Clopay CodeCrafters  ·  Evoke FDE AI Hackathon 5.0  ·  Problem 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5A5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4008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for evaluators. Clearer for students. The department still decides.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731520" y="251460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5" name="Image 0" descr="FiGit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2675534"/>
            <a:ext cx="409651" cy="40965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691640" y="2514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C9CD"/>
                </a:solidFill>
              </a:rPr>
              <a:t>Source code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1691640" y="2843784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https://github.com/Evoke-Hackathon-2026/Clopay-CodeCrafters</a:t>
            </a:r>
            <a:endParaRPr lang="en-US" sz="1900" dirty="0"/>
          </a:p>
        </p:txBody>
      </p:sp>
      <p:sp>
        <p:nvSpPr>
          <p:cNvPr id="8" name="Shape 4"/>
          <p:cNvSpPr/>
          <p:nvPr/>
        </p:nvSpPr>
        <p:spPr>
          <a:xfrm>
            <a:off x="731520" y="356616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9" name="Image 1" descr="Fi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3727094"/>
            <a:ext cx="409651" cy="40965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91640" y="3566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C9CD"/>
                </a:solidFill>
              </a:rPr>
              <a:t>Live site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691640" y="3895344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https://transferhub.wcubeprojects.in/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731520" y="4800600"/>
            <a:ext cx="4023360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2" descr="TransferHub log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4864608"/>
            <a:ext cx="2834640" cy="1417320"/>
          </a:xfrm>
          <a:prstGeom prst="rect">
            <a:avLst/>
          </a:prstGeom>
        </p:spPr>
      </p:pic>
      <p:pic>
        <p:nvPicPr>
          <p:cNvPr id="14" name="Image 3" descr="Clopay CodeCrafters log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2331720"/>
            <a:ext cx="3429000" cy="2286000"/>
          </a:xfrm>
          <a:prstGeom prst="rect">
            <a:avLst/>
          </a:prstGeom>
        </p:spPr>
      </p:pic>
      <p:pic>
        <p:nvPicPr>
          <p:cNvPr id="15" name="Image 4" descr="Raghuram Raichooti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9240" y="5120640"/>
            <a:ext cx="777240" cy="777240"/>
          </a:xfrm>
          <a:prstGeom prst="rect">
            <a:avLst/>
          </a:prstGeom>
        </p:spPr>
      </p:pic>
      <p:pic>
        <p:nvPicPr>
          <p:cNvPr id="16" name="Image 5" descr="Sankara Varaprasa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640" y="5120640"/>
            <a:ext cx="777240" cy="777240"/>
          </a:xfrm>
          <a:prstGeom prst="rect">
            <a:avLst/>
          </a:prstGeom>
        </p:spPr>
      </p:pic>
      <p:pic>
        <p:nvPicPr>
          <p:cNvPr id="17" name="Image 6" descr="Swetha Katkkoor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78040" y="5120640"/>
            <a:ext cx="777240" cy="777240"/>
          </a:xfrm>
          <a:prstGeom prst="rect">
            <a:avLst/>
          </a:prstGeom>
        </p:spPr>
      </p:pic>
      <p:pic>
        <p:nvPicPr>
          <p:cNvPr id="18" name="Image 7" descr="Harshil Shah Parim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92440" y="5120640"/>
            <a:ext cx="777240" cy="777240"/>
          </a:xfrm>
          <a:prstGeom prst="rect">
            <a:avLst/>
          </a:prstGeom>
        </p:spPr>
      </p:pic>
      <p:pic>
        <p:nvPicPr>
          <p:cNvPr id="19" name="Image 8" descr="Shravani Bollu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06840" y="5120640"/>
            <a:ext cx="777240" cy="777240"/>
          </a:xfrm>
          <a:prstGeom prst="rect">
            <a:avLst/>
          </a:prstGeom>
        </p:spPr>
      </p:pic>
      <p:sp>
        <p:nvSpPr>
          <p:cNvPr id="20" name="Text 8"/>
          <p:cNvSpPr txBox="1"/>
          <p:nvPr/>
        </p:nvSpPr>
        <p:spPr>
          <a:xfrm>
            <a:off x="534924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</a:rPr>
              <a:t>Clopay CodeCrafters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nsferHub">
  <a:themeElements>
    <a:clrScheme name="TransferHub">
      <a:dk1>
        <a:srgbClr val="2B1A1D"/>
      </a:dk1>
      <a:lt1>
        <a:srgbClr val="FFFFFF"/>
      </a:lt1>
      <a:dk2>
        <a:srgbClr val="3A040B"/>
      </a:dk2>
      <a:lt2>
        <a:srgbClr val="FDF2F3"/>
      </a:lt2>
      <a:accent1>
        <a:srgbClr val="770816"/>
      </a:accent1>
      <a:accent2>
        <a:srgbClr val="D9A441"/>
      </a:accent2>
      <a:accent3>
        <a:srgbClr val="CF3A53"/>
      </a:accent3>
      <a:accent4>
        <a:srgbClr val="2F7D5B"/>
      </a:accent4>
      <a:accent5>
        <a:srgbClr val="5B6B8C"/>
      </a:accent5>
      <a:accent6>
        <a:srgbClr val="E8C9CD"/>
      </a:accent6>
      <a:hlink>
        <a:srgbClr val="770816"/>
      </a:hlink>
      <a:folHlink>
        <a:srgbClr val="5C0712"/>
      </a:folHlink>
    </a:clrScheme>
    <a:fontScheme name="TransferHu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Clopay CodeCrafters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TransferHub - Live demo</dc:title>
  <dc:subject>PptxGenJS Presentation</dc:subject>
  <dc:creator>Clopay CodeCrafters</dc:creator>
  <cp:lastModifiedBy>Clopay CodeCrafters</cp:lastModifiedBy>
  <cp:revision>1</cp:revision>
  <dcterms:created xsi:type="dcterms:W3CDTF">2026-10-29T17:57:26Z</dcterms:created>
  <dcterms:modified xsi:type="dcterms:W3CDTF">2026-10-29T17:57:26Z</dcterms:modified>
</cp:coreProperties>
</file>