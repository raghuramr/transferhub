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7fc6eb0-9fbf-dcda-ec89-ef147dff264c}">
          <p14:sldIdLst>
            <p14:sldId id="256"/>
            <p14:sldId id="257"/>
          </p14:sldIdLst>
        </p14:section>
        <p14:section name="Student" id="{609487bb-4a37-ab4f-ba4c-f4bb53f439d8}">
          <p14:sldIdLst>
            <p14:sldId id="258"/>
            <p14:sldId id="259"/>
            <p14:sldId id="260"/>
            <p14:sldId id="261"/>
            <p14:sldId id="262"/>
          </p14:sldIdLst>
        </p14:section>
        <p14:section name="Staff" id="{ecc7685e-8cef-65ac-55b7-9c9a2e14fe31}">
          <p14:sldIdLst>
            <p14:sldId id="263"/>
            <p14:sldId id="264"/>
            <p14:sldId id="265"/>
          </p14:sldIdLst>
        </p14:section>
        <p14:section name="Super admin" id="{399690f4-365b-76b7-ca36-c4cea3ecc660}">
          <p14:sldIdLst>
            <p14:sldId id="266"/>
          </p14:sldIdLst>
        </p14:section>
        <p14:section name="Close" id="{f03fb9ac-4bff-5028-f5bf-7ddc15a4ea8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8 minutes. Two browser profiles: student and staff. Login page has one-click demo login buttons, so no passwords are typed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steps, student first, then staff, then the super admin view. Data is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/register. Six built-in steps plus any extra steps the admin adds through the student-registration Custom Form. The student is signed in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Upload: drop PDFs or photos (or use the phone camera). Each file is classified and read; the student checks and confirms. Without an AI key the built-in rules reader does it, at lower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Submit Transcript the student picks "Use these courses" from a transcript Smart Upload already read. Nothing is retyped. Target university and program are pre-selected from the profile; each program shows its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submit every course is triaged at once (sp_TriageCourse + the BU policy engine). The student watches a live tracker (server-sent events) with notes beside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known equivalencies apply instantly. Two go to the CS department with ranked suggestions. The quarter course is converted 4 x 2/3 = 2.66.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in as faculty (one-click demo login), open the Approval queue, the Bay State request, Faculty review stage. Compare CSC 220 with CAS CS 112 and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"Add second student" on the Demo scenario page: Noah Chen, also CSC 220 from Bay State, is applied automatically with no review. AI Controls &gt; Learning turns repeated faculty corrections into suggested playbook rules; an admin adds them with a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Workflows (super admin settings, or /admin/workflows). The default: request received → intake and AI match → faculty review → finance → first approver → final approver → completed. Each university can copy it and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 admin dashboard: an "AI agents" block sits under Transfer operations, separate from the regular counts. AI Controls shows the same numbers in detail: spent this month, $ spent by request (matching / documents / briefs), tokens avoided, cache hits, response times. No AI key yet, so live AI spend is zero; the rules engine is logged at no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Clopay CodeCrafters: two Microsoft-practice and three UI-practice engineers from Evoke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Repo and live site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D"/>
                </a:solidFill>
              </a:rPr>
              <a:t>TransferHub live demo  ·  Clopay CodeCrafters  ·  screenshots use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_DARK">
    <p:bg>
      <p:bgPr>
        <a:solidFill>
          <a:srgbClr val="3A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erhub.wcubeprojects.in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voke-Hackathon-2026/Clopay-CodeCrafters" TargetMode="External"/><Relationship Id="rId4" Type="http://schemas.openxmlformats.org/officeDocument/2006/relationships/hyperlink" Target="https://transferhub.wcubeprojects.in/" TargetMode="Externa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5" Type="http://schemas.openxmlformats.org/officeDocument/2006/relationships/image" Target="../media/image-13-3.png"/><Relationship Id="rId6" Type="http://schemas.openxmlformats.org/officeDocument/2006/relationships/image" Target="../media/image-13-4.png"/><Relationship Id="rId7" Type="http://schemas.openxmlformats.org/officeDocument/2006/relationships/image" Target="../media/image-13-5.png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Relationship Id="rId10" Type="http://schemas.openxmlformats.org/officeDocument/2006/relationships/image" Target="../media/image-13-8.png"/><Relationship Id="rId11" Type="http://schemas.openxmlformats.org/officeDocument/2006/relationships/image" Target="../media/image-13-9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4864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TransferHu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3291840" cy="1645920"/>
          </a:xfrm>
          <a:prstGeom prst="rect">
            <a:avLst/>
          </a:prstGeom>
        </p:spPr>
      </p:pic>
      <p:pic>
        <p:nvPicPr>
          <p:cNvPr id="5" name="Image 1" descr="Clopay CodeCrafter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11480"/>
            <a:ext cx="2745651" cy="1828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2606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one transfer, end to end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C9CD"/>
                </a:solidFill>
              </a:rPr>
              <a:t>From a new student account to a department decision that teaches the system.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Clopay CodeCrafters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  ·   Evoke FDE AI Hackathon 5.0   ·   Problem 1 · Boston University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E8C9CD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https://transferhub.wcubeprojects.in/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see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Create the user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Student self-registration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Student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488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14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Upload the documents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Smart Upload reads them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Student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Auto-capture into the request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Courses pre-filled, target set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Student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492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150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15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Submit for transfer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406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Live tracker, lanes, top-3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Student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494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0" y="182880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0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Approve and decide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Side-by-side, learning loop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441"/>
                </a:solidFill>
              </a:rPr>
              <a:t>Faculty / Admin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5496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9154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9154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Configure the workflow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Stages, approvers, SLAs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6410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Admin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149840" y="16002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10515600" y="1828800"/>
            <a:ext cx="731520" cy="73152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515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AI stats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024128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Spend and usage, kept apart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2412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5D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The story.  </a:t>
            </a:r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Maya Rivera moves from Bay State Community College to Boston University with six courses: three known, two "maybe", one quarter-system.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the user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Student</a:t>
            </a:r>
            <a:endParaRPr lang="en-US" sz="1300" dirty="0"/>
          </a:p>
        </p:txBody>
      </p:sp>
      <p:pic>
        <p:nvPicPr>
          <p:cNvPr id="7" name="Registration stepper screenshot" descr="Registration steppe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63840" y="1490472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14173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Account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863840" y="2203704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6384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21305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Application: target university, program, school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863840" y="2916936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638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28437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Contact and emergency contact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863840" y="3630168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8638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557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Education history, every college + AP / IB / A-level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863840" y="4343400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638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42702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Language and outside-US check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863840" y="5056632"/>
            <a:ext cx="457200" cy="45720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86384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503920" y="4983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Review, then signed straight in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5715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5D"/>
                </a:solidFill>
              </a:rPr>
              <a:t>BU rules need this as structured data: applicant type sets the credit cap.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the documents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Student</a:t>
            </a:r>
            <a:endParaRPr lang="en-US" sz="1300" dirty="0"/>
          </a:p>
        </p:txBody>
      </p:sp>
      <p:pic>
        <p:nvPicPr>
          <p:cNvPr id="7" name="Smart upload screenshot" descr="Smart uploa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1371600"/>
            <a:ext cx="65836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0" y="1417320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0" name="Image 1" descr="Fi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153802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29600" y="13807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Transcript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College, term, courses, credits, grades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498080" y="2258568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4" name="Image 2" descr="FiCreditC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1" y="2379269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0" y="2221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ID / passport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0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Name, date of birth, country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498080" y="3099816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8" name="Image 3" descr="FiMessage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3220517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29600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English test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229600" y="33741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Test type and scores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498080" y="3941064"/>
            <a:ext cx="548640" cy="548640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4" descr="FiBookO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781" y="4061765"/>
            <a:ext cx="307238" cy="30723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229600" y="39044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Syllabus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8229600" y="42153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Course, topics, outcomes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98080" y="489204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7680960" y="48920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0816"/>
                </a:solidFill>
              </a:rPr>
              <a:t>Also checks the profile. </a:t>
            </a:r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 transcript from a college that does not match the profile is flagged; blanks in the profile (GPA, prior college, country) are filled.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Auto-capture into the transfer request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Student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664208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9" name="Image 0" descr="Fi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88932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Transcript read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97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Smart Upload, confirmed by the student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108960" y="2441448"/>
            <a:ext cx="246888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01568" y="14630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30168" y="1664208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5" name="Image 1" descr="Fi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892" y="1788932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168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Courses extracted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630168" y="2697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Code, title, credits, grade, term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61888" y="2441448"/>
            <a:ext cx="246888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254496" y="14630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83096" y="1664208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1" name="Image 2" descr="FiMouse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20" y="1788932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83096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"Use these courses"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2697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One click on Submit Transcript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814816" y="2441448"/>
            <a:ext cx="246888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107424" y="146304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36024" y="1664208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7" name="Image 3" descr="FiEdit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748" y="1788932"/>
            <a:ext cx="317480" cy="3174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36024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Request pre-filled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9336024" y="2697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Source college + every course row</a:t>
            </a:r>
            <a:endParaRPr lang="en-US" sz="1300" dirty="0"/>
          </a:p>
        </p:txBody>
      </p:sp>
      <p:pic>
        <p:nvPicPr>
          <p:cNvPr id="30" name="Extracted courses from Smart Upload" descr="Extracted courses from Smart Uplo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5852160" cy="25146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31" name="Shape 23"/>
          <p:cNvSpPr/>
          <p:nvPr/>
        </p:nvSpPr>
        <p:spPr>
          <a:xfrm>
            <a:off x="548640" y="3749040"/>
            <a:ext cx="5852160" cy="25146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675120" y="3749040"/>
            <a:ext cx="4937760" cy="2514600"/>
          </a:xfrm>
          <a:prstGeom prst="roundRect">
            <a:avLst>
              <a:gd name="adj" fmla="val 4364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690372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student only chooses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6903720" y="434340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University to transfer to (from the profile target)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Program to join, with its credits and course count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Optional syllabus or catalogue link per course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submit for transfer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Student</a:t>
            </a:r>
            <a:endParaRPr lang="en-US" sz="1300" dirty="0"/>
          </a:p>
        </p:txBody>
      </p:sp>
      <p:pic>
        <p:nvPicPr>
          <p:cNvPr id="7" name="Mobile request status screenshot" descr="Mobile request statu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7744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1371600"/>
            <a:ext cx="237744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pic>
        <p:nvPicPr>
          <p:cNvPr id="9" name="Student dashboard screenshot" descr="Student 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484632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3200400" y="1371600"/>
            <a:ext cx="484632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32104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lanes at upload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173736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Applied, likely, needs syllabus, not eligible: per course, not "0 units".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2578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Top-3 suggestions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294436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Each pending course shows the ranked BU candidates with a reason.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37856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tracker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415137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Which stage, who owns it, notes beside it. Updates without reload.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9926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→ To credits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53583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Degree progress: secure, likely, pending, not counted against the cap.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triage does with Maya's six courses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Student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External course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Lane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What the student sees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7373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1737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110  Intro to Programming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20640" y="18470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1847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CS 111 · 4 cr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2423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MAT 210  Calculus 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20640" y="25328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423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MA 123 · 4 cr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1089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" y="3108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ECO 101  Microeconomics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20640" y="32186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2064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Applied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BU CAS EC 101 · 3 cr as taken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37947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3794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220  Data Structures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20640" y="39044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20640" y="3904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Likely match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CS 112 ranked first · CS dept decides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480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2960" y="4480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CSC 240  Discrete Math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120640" y="45902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20640" y="4590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Needs syllabus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406640" y="4480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CS 131 or MA 293 · evaluator picks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1663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22960" y="51663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1D"/>
                </a:solidFill>
              </a:rPr>
              <a:t>CIS 150  Linear Algebra (quarter)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120640" y="52760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20640" y="5276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qtr → 2.66 cr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7406640" y="5166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1D"/>
                </a:solidFill>
              </a:rPr>
              <a:t>vs MA 242 (4) · evaluator decides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11 credits secure the moment she submits (4 + 4 + 3); every pending course has a named next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Approval: the evaluator workbench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Faculty / Admin</a:t>
            </a:r>
            <a:endParaRPr lang="en-US" sz="1300" dirty="0"/>
          </a:p>
        </p:txBody>
      </p:sp>
      <p:pic>
        <p:nvPicPr>
          <p:cNvPr id="7" name="Request review screenshot" descr="Request re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1371600"/>
            <a:ext cx="731520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Syllabus topics next to the BU course, shared terms highlighted, overlap % and credit math.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971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in one click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Equivalent, elective, no credit or "must take at BU". Accept every suggestion ≥ X% at once.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4572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decides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9377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A1D"/>
                </a:solidFill>
              </a:rPr>
              <a:t>AI and rules never reject. Admins see only their university; outgoing requests are read-only.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decision makes the next one faster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Faculty / Admin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9" name="Image 0" descr="FiCheck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7064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1  Faculty decides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CSC 220 = CAS CS 112, 4 cr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977640" y="141732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164592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4" name="Image 1" descr="Fi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964" y="177064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062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2  Equivalency saved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Reusable, with effective dates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977640" y="388620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06240" y="4114800"/>
            <a:ext cx="566928" cy="5669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9" name="Image 2" descr="FiZ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64" y="4239524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0624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  Next student: instant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20624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C9CD"/>
                </a:solidFill>
              </a:rPr>
              <a:t>Noah Chen's CSC 220 is applied, no review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3886200"/>
            <a:ext cx="2971800" cy="2011680"/>
          </a:xfrm>
          <a:prstGeom prst="roundRect">
            <a:avLst>
              <a:gd name="adj" fmla="val 5455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4" name="Image 3" descr="FiBook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239524"/>
            <a:ext cx="317480" cy="317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724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0816"/>
                </a:solidFill>
              </a:rPr>
              <a:t>4  Skills learn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Overrides become suggested playbook rules (AI Controls → Learning)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3566160" y="2423160"/>
            <a:ext cx="365760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5458968" y="3474720"/>
            <a:ext cx="914" cy="36576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 flipH="1">
            <a:off x="3566160" y="4892040"/>
            <a:ext cx="365760" cy="914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 flipV="1">
            <a:off x="2029968" y="3474720"/>
            <a:ext cx="914" cy="36576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7315200" y="141732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754380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system learns</a:t>
            </a:r>
            <a:endParaRPr lang="en-US" sz="1900" dirty="0"/>
          </a:p>
        </p:txBody>
      </p:sp>
      <p:sp>
        <p:nvSpPr>
          <p:cNvPr id="33" name="Text 26"/>
          <p:cNvSpPr txBox="1"/>
          <p:nvPr/>
        </p:nvSpPr>
        <p:spPr>
          <a:xfrm>
            <a:off x="7543800" y="20574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Equivalencies table: every approved decision, with start and end dates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Cross-student match cache: the same external course is never matched twice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Learned skills: mined from faculty overrides and repeated elective / no-credit choices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Playbook skills: editable instructions sent to whichever AI provider is active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1A1D"/>
                </a:solidFill>
              </a:rPr>
              <a:t>Nothing is automatic: a person adds each learned rule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stages you can configure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Admin</a:t>
            </a:r>
            <a:endParaRPr lang="en-US" sz="1300" dirty="0"/>
          </a:p>
        </p:txBody>
      </p:sp>
      <p:pic>
        <p:nvPicPr>
          <p:cNvPr id="7" name="Workflow designer screenshot" descr="Workflow designe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7223760" cy="4846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480560" y="1371600"/>
            <a:ext cx="722376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417320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0" name="Image 1" descr="Fi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" y="1533997"/>
            <a:ext cx="296997" cy="29699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1371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Stages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17099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System, review or approval; agent task per stage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386584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4" name="Image 2" descr="Fi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" y="2503261"/>
            <a:ext cx="296997" cy="29699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34086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Approver groups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267919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Role, group or person; per university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355848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18" name="Image 3" descr="Fi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" y="3472525"/>
            <a:ext cx="296997" cy="29699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33101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SLAs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234440" y="36484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Overdue stages escalate once, by email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48640" y="4325112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2" name="Image 4" descr="Fi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17" y="4441789"/>
            <a:ext cx="296997" cy="29699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34440" y="42793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Auto-approve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234440" y="46177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Accept suggestions ≥ a threshold; never rejects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5294376"/>
            <a:ext cx="530352" cy="530352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pic>
        <p:nvPicPr>
          <p:cNvPr id="26" name="Image 5" descr="FiSkipForw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317" y="5411053"/>
            <a:ext cx="296997" cy="29699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34440" y="52486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Bypass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1234440" y="55869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Skip one stage, or accept the whole request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stats for the Super Admin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12680" y="429768"/>
            <a:ext cx="658368" cy="658368"/>
          </a:xfrm>
          <a:prstGeom prst="ellipse">
            <a:avLst/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12680" y="429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4297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A5D"/>
                </a:solidFill>
              </a:rPr>
              <a:t>Super admin</a:t>
            </a:r>
            <a:endParaRPr lang="en-US" sz="1300" dirty="0"/>
          </a:p>
        </p:txBody>
      </p:sp>
      <p:pic>
        <p:nvPicPr>
          <p:cNvPr id="7" name="Super admin dashboard screenshot" descr="Super admin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2004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1371600"/>
            <a:ext cx="548640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pic>
        <p:nvPicPr>
          <p:cNvPr id="9" name="AI Controls screenshot" descr="AI Control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6217920" y="1371600"/>
            <a:ext cx="548640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B9B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Dashboard: operations and AI agents, kept apart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AI Controls: usage, $ by request, settings, playbook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50749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3152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Spent this month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against a monthly budget meter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364992" y="50749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3547872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$ spent by request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47872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matching · documents · briefs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81344" y="50749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364224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Efficiency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64224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tokens avoided, cache hits, calls skipped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997696" y="50749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180576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0816"/>
                </a:solidFill>
              </a:rPr>
              <a:t>Speed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180576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1D"/>
                </a:solidFill>
              </a:rPr>
              <a:t>average and slowest response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behind TransferHub</a:t>
            </a:r>
            <a:endParaRPr lang="en-US" sz="3000" dirty="0"/>
          </a:p>
        </p:txBody>
      </p:sp>
      <p:sp>
        <p:nvSpPr>
          <p:cNvPr id="4" name="Team card Raghuram Raichooti"/>
          <p:cNvSpPr/>
          <p:nvPr/>
        </p:nvSpPr>
        <p:spPr>
          <a:xfrm>
            <a:off x="54864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hoto of Raghuram Raichoo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1463040" cy="1463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868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Raghuram Raichooti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7724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practice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3869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rraichooti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12" name="Team card Sankara Varaprasad"/>
          <p:cNvSpPr/>
          <p:nvPr/>
        </p:nvSpPr>
        <p:spPr>
          <a:xfrm>
            <a:off x="278892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hoto of Sankara Varapras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91640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10896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8803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Sankara Varaprasad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301752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01752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88036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801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88036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skvenkobarao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20" name="Team card Swetha Katkkoori"/>
          <p:cNvSpPr/>
          <p:nvPr/>
        </p:nvSpPr>
        <p:spPr>
          <a:xfrm>
            <a:off x="502920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hoto of Swetha Katkkoor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91640"/>
            <a:ext cx="1463040" cy="1463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4924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1206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Swetha Katkkoori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525780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70816"/>
          </a:solidFill>
          <a:ln w="12700">
            <a:solidFill>
              <a:srgbClr val="77081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25780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practice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4126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12064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skatkkoori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28" name="Team card Harshil Shah Parimal"/>
          <p:cNvSpPr/>
          <p:nvPr/>
        </p:nvSpPr>
        <p:spPr>
          <a:xfrm>
            <a:off x="726948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3" descr="Photo of Harshil Shah Parim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91640"/>
            <a:ext cx="1463040" cy="1463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58952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36092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Harshil Shah Parimal</a:t>
            </a:r>
            <a:endParaRPr lang="en-US" sz="1700" dirty="0"/>
          </a:p>
        </p:txBody>
      </p:sp>
      <p:sp>
        <p:nvSpPr>
          <p:cNvPr id="32" name="Shape 25"/>
          <p:cNvSpPr/>
          <p:nvPr/>
        </p:nvSpPr>
        <p:spPr>
          <a:xfrm>
            <a:off x="749808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49808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3609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2458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36092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hparimal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sp>
        <p:nvSpPr>
          <p:cNvPr id="36" name="Team card Shravani Bollu"/>
          <p:cNvSpPr/>
          <p:nvPr/>
        </p:nvSpPr>
        <p:spPr>
          <a:xfrm>
            <a:off x="9509760" y="1417320"/>
            <a:ext cx="2103120" cy="3794760"/>
          </a:xfrm>
          <a:prstGeom prst="roundRect">
            <a:avLst>
              <a:gd name="adj" fmla="val 5217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7" name="Image 4" descr="Photo of Shravani Boll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691640"/>
            <a:ext cx="1463040" cy="146304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829800" y="16916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70816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60120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70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Shravani Bollu</a:t>
            </a:r>
            <a:endParaRPr lang="en-US" sz="1700" dirty="0"/>
          </a:p>
        </p:txBody>
      </p:sp>
      <p:sp>
        <p:nvSpPr>
          <p:cNvPr id="40" name="Shape 32"/>
          <p:cNvSpPr/>
          <p:nvPr/>
        </p:nvSpPr>
        <p:spPr>
          <a:xfrm>
            <a:off x="9738360" y="4023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738360" y="4023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040B"/>
                </a:solidFill>
              </a:rPr>
              <a:t>UI practice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960120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5D"/>
                </a:solidFill>
              </a:rPr>
              <a:t>Emp. ID 2473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601200" y="4782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sbollu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B1A1D"/>
                </a:solidFill>
              </a:rPr>
              <a:t>@evoketechnologies.com</a:t>
            </a:r>
            <a:endParaRPr lang="en-US" sz="1100" dirty="0"/>
          </a:p>
        </p:txBody>
      </p:sp>
      <p:pic>
        <p:nvPicPr>
          <p:cNvPr id="44" name="Image 5" descr="Clopay CodeCrafters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69280"/>
            <a:ext cx="1030310" cy="6858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853270" y="5669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A1D"/>
                </a:solidFill>
              </a:rPr>
              <a:t>Clopay CodeCrafters  ·  Evoke FDE AI Hackathon 5.0  ·  Problem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400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for evaluators. Clearer for students. The department still decides.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251460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Fi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675534"/>
            <a:ext cx="409651" cy="40965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916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CD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691640" y="284378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https://github.com/Evoke-Hackathon-2026/Clopay-CodeCrafters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31520" y="3566160"/>
            <a:ext cx="731520" cy="7315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9" name="Image 1" descr="Fi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727094"/>
            <a:ext cx="409651" cy="4096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91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9CD"/>
                </a:solidFill>
              </a:rPr>
              <a:t>Live site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691640" y="389534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https://transferhub.wcubeprojects.in/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731520" y="48006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TransferHub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4864608"/>
            <a:ext cx="2834640" cy="1417320"/>
          </a:xfrm>
          <a:prstGeom prst="rect">
            <a:avLst/>
          </a:prstGeom>
        </p:spPr>
      </p:pic>
      <p:pic>
        <p:nvPicPr>
          <p:cNvPr id="14" name="Image 3" descr="Clopay CodeCrafters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663" y="2377440"/>
            <a:ext cx="3020217" cy="2011680"/>
          </a:xfrm>
          <a:prstGeom prst="rect">
            <a:avLst/>
          </a:prstGeom>
        </p:spPr>
      </p:pic>
      <p:pic>
        <p:nvPicPr>
          <p:cNvPr id="15" name="Image 4" descr="Raghuram Raichoot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5120640"/>
            <a:ext cx="777240" cy="777240"/>
          </a:xfrm>
          <a:prstGeom prst="rect">
            <a:avLst/>
          </a:prstGeom>
        </p:spPr>
      </p:pic>
      <p:pic>
        <p:nvPicPr>
          <p:cNvPr id="16" name="Image 5" descr="Sankara Varaprasa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120640"/>
            <a:ext cx="777240" cy="777240"/>
          </a:xfrm>
          <a:prstGeom prst="rect">
            <a:avLst/>
          </a:prstGeom>
        </p:spPr>
      </p:pic>
      <p:pic>
        <p:nvPicPr>
          <p:cNvPr id="17" name="Image 6" descr="Swetha Katkkoor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5120640"/>
            <a:ext cx="777240" cy="777240"/>
          </a:xfrm>
          <a:prstGeom prst="rect">
            <a:avLst/>
          </a:prstGeom>
        </p:spPr>
      </p:pic>
      <p:pic>
        <p:nvPicPr>
          <p:cNvPr id="18" name="Image 7" descr="Harshil Shah Parim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5120640"/>
            <a:ext cx="777240" cy="777240"/>
          </a:xfrm>
          <a:prstGeom prst="rect">
            <a:avLst/>
          </a:prstGeom>
        </p:spPr>
      </p:pic>
      <p:pic>
        <p:nvPicPr>
          <p:cNvPr id="19" name="Image 8" descr="Shravani Bollu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6840" y="5120640"/>
            <a:ext cx="777240" cy="77724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534924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</a:rPr>
              <a:t>Clopay CodeCrafters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ferHub">
  <a:themeElements>
    <a:clrScheme name="TransferHub">
      <a:dk1>
        <a:srgbClr val="2B1A1D"/>
      </a:dk1>
      <a:lt1>
        <a:srgbClr val="FFFFFF"/>
      </a:lt1>
      <a:dk2>
        <a:srgbClr val="3A040B"/>
      </a:dk2>
      <a:lt2>
        <a:srgbClr val="FDF2F3"/>
      </a:lt2>
      <a:accent1>
        <a:srgbClr val="770816"/>
      </a:accent1>
      <a:accent2>
        <a:srgbClr val="D9A441"/>
      </a:accent2>
      <a:accent3>
        <a:srgbClr val="CF3A53"/>
      </a:accent3>
      <a:accent4>
        <a:srgbClr val="2F7D5B"/>
      </a:accent4>
      <a:accent5>
        <a:srgbClr val="5B6B8C"/>
      </a:accent5>
      <a:accent6>
        <a:srgbClr val="E8C9CD"/>
      </a:accent6>
      <a:hlink>
        <a:srgbClr val="770816"/>
      </a:hlink>
      <a:folHlink>
        <a:srgbClr val="5C0712"/>
      </a:folHlink>
    </a:clrScheme>
    <a:fontScheme name="Transfer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Clopay CodeCrafters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TransferHub - Live demo</dc:title>
  <dc:subject>PptxGenJS Presentation</dc:subject>
  <dc:creator>Clopay CodeCrafters</dc:creator>
  <cp:lastModifiedBy>Clopay CodeCrafters</cp:lastModifiedBy>
  <cp:revision>1</cp:revision>
  <dcterms:created xsi:type="dcterms:W3CDTF">2026-10-29T18:01:12Z</dcterms:created>
  <dcterms:modified xsi:type="dcterms:W3CDTF">2026-10-29T18:01:12Z</dcterms:modified>
</cp:coreProperties>
</file>