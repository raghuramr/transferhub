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1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032201ba-e6d4-3057-0fce-10781fe04849}">
          <p14:sldIdLst>
            <p14:sldId id="256"/>
          </p14:sldIdLst>
        </p14:section>
        <p14:section name="The problem" id="{f274cac2-fd9c-4b49-3dab-4ca982a1b899}">
          <p14:sldIdLst>
            <p14:sldId id="257"/>
            <p14:sldId id="258"/>
            <p14:sldId id="259"/>
          </p14:sldIdLst>
        </p14:section>
        <p14:section name="The solution" id="{fe6a8c18-5c62-fa5e-c924-86996af493e0}">
          <p14:sldIdLst>
            <p14:sldId id="260"/>
            <p14:sldId id="261"/>
            <p14:sldId id="262"/>
          </p14:sldIdLst>
        </p14:section>
        <p14:section name="Student journey" id="{6eaea25f-9aea-fb43-bdb7-9d5a1679219e}">
          <p14:sldIdLst>
            <p14:sldId id="263"/>
            <p14:sldId id="264"/>
            <p14:sldId id="265"/>
          </p14:sldIdLst>
        </p14:section>
        <p14:section name="Staff and workflow" id="{105f3ad5-2d6c-6fb8-5a2c-d66856105089}">
          <p14:sldIdLst>
            <p14:sldId id="266"/>
            <p14:sldId id="267"/>
            <p14:sldId id="268"/>
            <p14:sldId id="269"/>
          </p14:sldIdLst>
        </p14:section>
        <p14:section name="AI" id="{d818df35-b907-0c50-2bf3-49d1760ba2e7}">
          <p14:sldIdLst>
            <p14:sldId id="270"/>
            <p14:sldId id="271"/>
            <p14:sldId id="272"/>
            <p14:sldId id="273"/>
          </p14:sldIdLst>
        </p14:section>
        <p14:section name="Platform" id="{1c5c0522-0f95-1fef-9a68-a0f7a78c1645}">
          <p14:sldIdLst>
            <p14:sldId id="274"/>
            <p14:sldId id="275"/>
            <p14:sldId id="276"/>
            <p14:sldId id="277"/>
          </p14:sldIdLst>
        </p14:section>
        <p14:section name="Proof and next" id="{79fae1f9-a0ca-9ea7-538a-47308adfbd98}">
          <p14:sldIdLst>
            <p14:sldId id="278"/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7D5B"/>
              </a:solidFill>
              <a:effectLst/>
            </c:spPr>
          </c:dPt>
          <c:dPt>
            <c:idx val="1"/>
            <c:bubble3D val="0"/>
            <c:spPr>
              <a:solidFill>
                <a:srgbClr val="C98A1B"/>
              </a:solidFill>
              <a:effectLst/>
            </c:spPr>
          </c:dPt>
          <c:dPt>
            <c:idx val="2"/>
            <c:bubble3D val="0"/>
            <c:spPr>
              <a:solidFill>
                <a:srgbClr val="B3261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Built</c:v>
                </c:pt>
                <c:pt idx="1">
                  <c:v>Partial</c:v>
                </c:pt>
                <c:pt idx="2">
                  <c:v>Open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20</c:v>
                </c:pt>
                <c:pt idx="1">
                  <c:v>2</c:v>
                </c:pt>
                <c:pt idx="2">
                  <c:v>0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B1A1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 promise: faster for evaluators, clearer for students, and the department still decides.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takes 800+ transfers a year. Courses without an equivalency show 0 units, students chase syllabi, evaluators compare by hand. All credit must be settled within one year of starting.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Personas from DISCOVERY.md. Custom roles are built on one of the base roles with their own permission grants.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tests in the brief. Each has a concrete feature you can click.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Section: solution and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Rules first, then known equivalencies, then AI or built-in rules, then the people.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 Azure App Service serves the React SPA and the NestJS API. Azure SQL holds data and the two core stored procedures; Blob holds documents; Resend sends email; AI providers are pluggable with a zero-token fallback.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Six-step registration aligned with BU policy, plus admin-defined Custom Form steps. Smart Upload reads transcripts, IDs, English tests and syllabi, fills profile blanks and flags a college that does not match.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Courses captured from Smart Upload, target university and program chosen with their credits, live tracker by server-sent events, degree progress, Explore and compare up to three universities.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Maya Rivera, Bay State Community College (semester) and Pioneer Valley Technical College (quarter). Three known, two maybe, one quarter course converted 4 x 2/3 = 2.66.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 review: decision brief, timeline, ranked suggestions with reasons, side-by-side compare with credit math, accept all above a threshold, bulk approve in the queue.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Decide CSC 220 for Maya; the second Bay State student with CSC 220 is applied automatically. Learned skills are suggestions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Default: received → intake and AI match → faculty → finance → first approver → final approver → completed. Copy per university; approver groups are cloned with the university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TransferPolicyService runs after sp_TriageCourse and only tightens lanes. Flags are shown to both the student and the reviewer. Thresholds are per university.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Section: AI approach and controls.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Order: AI if a provider is set up, switched on and within budget; else the built-in rules if the fallback is on; else paused. A person can always override.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Shortlist is lexical and free; cache means one call per external course; budgets fall back to rules. Super admin sees AI spend separately from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Backtest: for each of 63 past decisions, hide it from the matcher and ask whether the right BU course is in its top 1 or top 3. Built-in rules only, no AI key. The same harness will score the AI matcher once a key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× module × operation matrix, enforced on every change endpoint with a 30-second cache. Custom roles sit on a base role with their own grants. Staff are scoped to their universities; super admins are invisible to admins.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Partner API with hashed keys and a review queue; partner portal with Excel templates; student intake by claim link where the account exists only after the student confirms.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Multi-university master data, exchange between universities, dashboards, emails, storage, demo tooling.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runs as one Node app on Azure App Service; database changes are 33 idempotent numbered SQL scripts.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GAP_ANALYSIS.md: 22 brief tests and business rules. 20 built, 2 partial (faculty screen to pick several BU courses for one external course; the 5-credit lab rule awaiting BU), 0 open.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Clopay CodeCrafters: two Microsoft-practice and three UI-practice engineers from Evoke Technologies.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live AI key, no BU baseline numbers. Plan to close the gaps.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promise and move to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D"/>
                </a:solidFill>
              </a:rPr>
              <a:t>TransferHub  ·  Clopay CodeCrafters  ·  screenshots use synthetic 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_DARK">
    <p:bg>
      <p:bgPr>
        <a:solidFill>
          <a:srgbClr val="3A04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ransferhub.wcubeprojects.in/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image" Target="../media/image-20-2.jpe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voke-Hackathon-2026/Clopay-CodeCrafters" TargetMode="External"/><Relationship Id="rId4" Type="http://schemas.openxmlformats.org/officeDocument/2006/relationships/hyperlink" Target="https://transferhub.wcubeprojects.in/" TargetMode="External"/><Relationship Id="rId1" Type="http://schemas.openxmlformats.org/officeDocument/2006/relationships/image" Target="../media/image-26-1.png"/><Relationship Id="rId3" Type="http://schemas.openxmlformats.org/officeDocument/2006/relationships/image" Target="../media/image-26-2.png"/><Relationship Id="rId5" Type="http://schemas.openxmlformats.org/officeDocument/2006/relationships/image" Target="../media/image-26-3.png"/><Relationship Id="rId6" Type="http://schemas.openxmlformats.org/officeDocument/2006/relationships/image" Target="../media/image-26-4.png"/><Relationship Id="rId7" Type="http://schemas.openxmlformats.org/officeDocument/2006/relationships/image" Target="../media/image-26-5.png"/><Relationship Id="rId8" Type="http://schemas.openxmlformats.org/officeDocument/2006/relationships/image" Target="../media/image-26-6.png"/><Relationship Id="rId9" Type="http://schemas.openxmlformats.org/officeDocument/2006/relationships/image" Target="../media/image-26-7.png"/><Relationship Id="rId10" Type="http://schemas.openxmlformats.org/officeDocument/2006/relationships/image" Target="../media/image-26-8.png"/><Relationship Id="rId11" Type="http://schemas.openxmlformats.org/officeDocument/2006/relationships/image" Target="../media/image-26-9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48640"/>
            <a:ext cx="347472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TransferHub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94360"/>
            <a:ext cx="3291840" cy="1645920"/>
          </a:xfrm>
          <a:prstGeom prst="rect">
            <a:avLst/>
          </a:prstGeom>
        </p:spPr>
      </p:pic>
      <p:pic>
        <p:nvPicPr>
          <p:cNvPr id="5" name="Image 1" descr="Clopay CodeCrafters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411480"/>
            <a:ext cx="2745651" cy="18288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40080" y="26060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Smarter Transfer Credit Evaluation</a:t>
            </a:r>
            <a:endParaRPr lang="en-US" sz="4600" dirty="0"/>
          </a:p>
        </p:txBody>
      </p:sp>
      <p:sp>
        <p:nvSpPr>
          <p:cNvPr id="7" name="Text 2"/>
          <p:cNvSpPr txBox="1"/>
          <p:nvPr/>
        </p:nvSpPr>
        <p:spPr>
          <a:xfrm>
            <a:off x="640080" y="36118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8C9CD"/>
                </a:solidFill>
              </a:rPr>
              <a:t>From "0 units" and weeks of waiting to a clear status for every course, on the day a student submits.</a:t>
            </a:r>
            <a:endParaRPr lang="en-US" sz="2200" dirty="0"/>
          </a:p>
        </p:txBody>
      </p:sp>
      <p:sp>
        <p:nvSpPr>
          <p:cNvPr id="8" name="Text 3"/>
          <p:cNvSpPr txBox="1"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A441"/>
                </a:solidFill>
              </a:rPr>
              <a:t>Clopay CodeCrafters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   ·   Evoke FDE AI Hackathon 5.0   ·   Problem 1 · Boston University</a:t>
            </a:r>
            <a:endParaRPr lang="en-US" sz="1800" dirty="0"/>
          </a:p>
        </p:txBody>
      </p:sp>
      <p:sp>
        <p:nvSpPr>
          <p:cNvPr id="9" name="Text 4"/>
          <p:cNvSpPr txBox="1"/>
          <p:nvPr/>
        </p:nvSpPr>
        <p:spPr>
          <a:xfrm>
            <a:off x="64008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E8C9CD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https://transferhub.wcubeprojects.in/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course, every student, one syllabus at a time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48640" y="164592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800+</a:t>
            </a:r>
            <a:endParaRPr lang="en-US" sz="4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560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transfer students a year at BU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364992" y="146304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3364992" y="164592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units</a:t>
            </a:r>
            <a:endParaRPr lang="en-US" sz="4200" dirty="0"/>
          </a:p>
        </p:txBody>
      </p:sp>
      <p:sp>
        <p:nvSpPr>
          <p:cNvPr id="9" name="Text 6"/>
          <p:cNvSpPr txBox="1"/>
          <p:nvPr/>
        </p:nvSpPr>
        <p:spPr>
          <a:xfrm>
            <a:off x="3547872" y="2560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shown for every pending course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81344" y="146304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181344" y="164592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by 1</a:t>
            </a:r>
            <a:endParaRPr lang="en-US" sz="4200" dirty="0"/>
          </a:p>
        </p:txBody>
      </p:sp>
      <p:sp>
        <p:nvSpPr>
          <p:cNvPr id="12" name="Text 9"/>
          <p:cNvSpPr txBox="1"/>
          <p:nvPr/>
        </p:nvSpPr>
        <p:spPr>
          <a:xfrm>
            <a:off x="6364224" y="2560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manual syllabus comparisons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997696" y="146304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997696" y="164592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year</a:t>
            </a:r>
            <a:endParaRPr lang="en-US" sz="4200" dirty="0"/>
          </a:p>
        </p:txBody>
      </p:sp>
      <p:sp>
        <p:nvSpPr>
          <p:cNvPr id="15" name="Text 12"/>
          <p:cNvSpPr txBox="1"/>
          <p:nvPr/>
        </p:nvSpPr>
        <p:spPr>
          <a:xfrm>
            <a:off x="9180576" y="2560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to settle all transfer credit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causes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548640" y="4160520"/>
            <a:ext cx="54406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77240" y="41605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70816"/>
                </a:solidFill>
              </a:rPr>
              <a:t>The "maybe" path is manual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Evaluator time goes into lookups and side-by-side reading.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172200" y="4160520"/>
            <a:ext cx="54406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6400800" y="41605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70816"/>
                </a:solidFill>
              </a:rPr>
              <a:t>Status is binary and late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Students cannot plan registration or graduation.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48640" y="5212080"/>
            <a:ext cx="54406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777240" y="52120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70816"/>
                </a:solidFill>
              </a:rPr>
              <a:t>Evidence falls on the student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Old syllabi are chased even when they would not change the outcome.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172200" y="5212080"/>
            <a:ext cx="54406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6400800" y="52120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70816"/>
                </a:solidFill>
              </a:rPr>
              <a:t>Decisions are not reused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The same external course is compared again for every student.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kinds of user, one source of truth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103120" cy="3931920"/>
          </a:xfrm>
          <a:prstGeom prst="roundRect">
            <a:avLst>
              <a:gd name="adj" fmla="val 5217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234440" y="1691640"/>
            <a:ext cx="731520" cy="73152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6" name="Image 0" descr="FiUs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5374" y="1852574"/>
            <a:ext cx="409651" cy="40965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2560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Maya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2971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A5D"/>
                </a:solidFill>
              </a:rPr>
              <a:t>Transfer student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868680" y="33832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3A040B"/>
          </a:solidFill>
          <a:ln w="12700">
            <a:solidFill>
              <a:srgbClr val="3A040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68680" y="33832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student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38862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Know which credits are secure, what to do, and by when.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2788920" y="1463040"/>
            <a:ext cx="2103120" cy="3931920"/>
          </a:xfrm>
          <a:prstGeom prst="roundRect">
            <a:avLst>
              <a:gd name="adj" fmla="val 5217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474720" y="1691640"/>
            <a:ext cx="731520" cy="73152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14" name="Image 1" descr="FiClipboa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654" y="1852574"/>
            <a:ext cx="409651" cy="40965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788920" y="2560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2880360" y="2971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A5D"/>
                </a:solidFill>
              </a:rPr>
              <a:t>Credit evaluation staff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3108960" y="33832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3A040B"/>
          </a:solidFill>
          <a:ln w="12700">
            <a:solidFill>
              <a:srgbClr val="3A040B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3108960" y="33832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admin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2971800" y="38862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Clean queue, fast lookups, little chasing. Scoped to his university.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029200" y="1463040"/>
            <a:ext cx="2103120" cy="3931920"/>
          </a:xfrm>
          <a:prstGeom prst="roundRect">
            <a:avLst>
              <a:gd name="adj" fmla="val 5217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15000" y="1691640"/>
            <a:ext cx="731520" cy="73152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22" name="Image 2" descr="FiBookOp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934" y="1852574"/>
            <a:ext cx="409651" cy="409651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029200" y="2560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Lee</a:t>
            </a:r>
            <a:endParaRPr lang="en-US" sz="2000" dirty="0"/>
          </a:p>
        </p:txBody>
      </p:sp>
      <p:sp>
        <p:nvSpPr>
          <p:cNvPr id="24" name="Text 18"/>
          <p:cNvSpPr txBox="1"/>
          <p:nvPr/>
        </p:nvSpPr>
        <p:spPr>
          <a:xfrm>
            <a:off x="5120640" y="2971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A5D"/>
                </a:solidFill>
              </a:rPr>
              <a:t>Department evaluator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5349240" y="33832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3A040B"/>
          </a:solidFill>
          <a:ln w="12700">
            <a:solidFill>
              <a:srgbClr val="3A040B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349240" y="33832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faculty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5212080" y="38862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All evidence in one place; consistent with past decisions.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7269480" y="1463040"/>
            <a:ext cx="2103120" cy="3931920"/>
          </a:xfrm>
          <a:prstGeom prst="roundRect">
            <a:avLst>
              <a:gd name="adj" fmla="val 5217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955280" y="1691640"/>
            <a:ext cx="731520" cy="73152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30" name="Image 3" descr="FiBriefcas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6214" y="1852574"/>
            <a:ext cx="409651" cy="409651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269480" y="2560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</a:t>
            </a:r>
            <a:endParaRPr lang="en-US" sz="2000" dirty="0"/>
          </a:p>
        </p:txBody>
      </p:sp>
      <p:sp>
        <p:nvSpPr>
          <p:cNvPr id="32" name="Text 25"/>
          <p:cNvSpPr txBox="1"/>
          <p:nvPr/>
        </p:nvSpPr>
        <p:spPr>
          <a:xfrm>
            <a:off x="7360920" y="2971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A5D"/>
                </a:solidFill>
              </a:rPr>
              <a:t>Agency or college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7589520" y="33832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3A040B"/>
          </a:solidFill>
          <a:ln w="12700">
            <a:solidFill>
              <a:srgbClr val="3A040B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7589520" y="33832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agency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7452360" y="38862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Submit students and catalogues in bulk; see outcomes.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>
            <a:off x="9509760" y="1463040"/>
            <a:ext cx="2103120" cy="3931920"/>
          </a:xfrm>
          <a:prstGeom prst="roundRect">
            <a:avLst>
              <a:gd name="adj" fmla="val 5217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10195560" y="1691640"/>
            <a:ext cx="731520" cy="73152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38" name="Image 4" descr="FiSetting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6494" y="1852574"/>
            <a:ext cx="409651" cy="409651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9509760" y="2560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</a:t>
            </a:r>
            <a:endParaRPr lang="en-US" sz="2000" dirty="0"/>
          </a:p>
        </p:txBody>
      </p:sp>
      <p:sp>
        <p:nvSpPr>
          <p:cNvPr id="40" name="Text 32"/>
          <p:cNvSpPr txBox="1"/>
          <p:nvPr/>
        </p:nvSpPr>
        <p:spPr>
          <a:xfrm>
            <a:off x="9601200" y="2971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A5D"/>
                </a:solidFill>
              </a:rPr>
              <a:t>Platform owner</a:t>
            </a:r>
            <a:endParaRPr lang="en-US" sz="1300" dirty="0"/>
          </a:p>
        </p:txBody>
      </p:sp>
      <p:sp>
        <p:nvSpPr>
          <p:cNvPr id="41" name="Shape 33"/>
          <p:cNvSpPr/>
          <p:nvPr/>
        </p:nvSpPr>
        <p:spPr>
          <a:xfrm>
            <a:off x="9829800" y="33832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3A040B"/>
          </a:solidFill>
          <a:ln w="12700">
            <a:solidFill>
              <a:srgbClr val="3A040B"/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9829800" y="33832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super_admin</a:t>
            </a:r>
            <a:endParaRPr lang="en-US" sz="1200" dirty="0"/>
          </a:p>
        </p:txBody>
      </p:sp>
      <p:sp>
        <p:nvSpPr>
          <p:cNvPr id="43" name="Text 35"/>
          <p:cNvSpPr txBox="1"/>
          <p:nvPr/>
        </p:nvSpPr>
        <p:spPr>
          <a:xfrm>
            <a:off x="9692640" y="38862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Configure universities, workflows, AI, roles; see cost and throughput.</a:t>
            </a:r>
            <a:endParaRPr lang="en-US" sz="1300" dirty="0"/>
          </a:p>
        </p:txBody>
      </p:sp>
      <p:sp>
        <p:nvSpPr>
          <p:cNvPr id="44" name="Shape 36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5" name="Text 37"/>
          <p:cNvSpPr txBox="1"/>
          <p:nvPr/>
        </p:nvSpPr>
        <p:spPr>
          <a:xfrm>
            <a:off x="777240" y="56235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70816"/>
                </a:solidFill>
              </a:rPr>
              <a:t>Hard constraint.  </a:t>
            </a:r>
            <a:pPr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Academic departments make the final decision. The system ranks, pre-fills, explains and routes; it never rejects on its own.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they asked for, and what we built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78992"/>
          </a:xfrm>
          <a:prstGeom prst="roundRect">
            <a:avLst>
              <a:gd name="adj" fmla="val 10169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700784"/>
            <a:ext cx="603504" cy="603504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6" name="Image 0" descr="FiZ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011" y="1833555"/>
            <a:ext cx="337962" cy="33796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1463040"/>
            <a:ext cx="2743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4480560" y="1499616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Every course triaged into a lane at upload. Known equivalencies apply instantly. The rest arrive pre-ranked with reasons. Decisions feed back so the next student is instant.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2679192"/>
            <a:ext cx="11064240" cy="1078992"/>
          </a:xfrm>
          <a:prstGeom prst="roundRect">
            <a:avLst>
              <a:gd name="adj" fmla="val 10169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77240" y="2916936"/>
            <a:ext cx="603504" cy="603504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11" name="Image 1" descr="FiEy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011" y="3049707"/>
            <a:ext cx="337962" cy="33796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645920" y="2679192"/>
            <a:ext cx="2743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transparent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4480560" y="2715768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Per-course status, a live tracker with notes beside each step, From → To credits and degree progress replace "0 units".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548640" y="3895344"/>
            <a:ext cx="11064240" cy="1078992"/>
          </a:xfrm>
          <a:prstGeom prst="roundRect">
            <a:avLst>
              <a:gd name="adj" fmla="val 10169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77240" y="4133088"/>
            <a:ext cx="603504" cy="603504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16" name="Image 2" descr="FiHea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011" y="4265859"/>
            <a:ext cx="337962" cy="33796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645920" y="3895344"/>
            <a:ext cx="2743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stressful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4480560" y="393192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Syllabi asked for only where they matter. Documents are read for the student. Applicants get a preview before admission.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548640" y="5111496"/>
            <a:ext cx="11064240" cy="1078992"/>
          </a:xfrm>
          <a:prstGeom prst="roundRect">
            <a:avLst>
              <a:gd name="adj" fmla="val 10169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777240" y="5349240"/>
            <a:ext cx="603504" cy="603504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21" name="Image 3" descr="FiShiel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011" y="5482011"/>
            <a:ext cx="337962" cy="33796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645920" y="5111496"/>
            <a:ext cx="2743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decides</a:t>
            </a:r>
            <a:endParaRPr lang="en-US" sz="2000" dirty="0"/>
          </a:p>
        </p:txBody>
      </p:sp>
      <p:sp>
        <p:nvSpPr>
          <p:cNvPr id="23" name="Text 16"/>
          <p:cNvSpPr txBox="1"/>
          <p:nvPr/>
        </p:nvSpPr>
        <p:spPr>
          <a:xfrm>
            <a:off x="4480560" y="5148072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Configurable approval stages. AI and rules never reject; rules confidence is capped at 70%; auto-approve is opt-in per stage.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4290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One pipeline from a student's documents to posted credit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 from upload to posting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1664208" cy="2377440"/>
          </a:xfrm>
          <a:prstGeom prst="roundRect">
            <a:avLst>
              <a:gd name="adj" fmla="val 6593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014984" y="1737360"/>
            <a:ext cx="731520" cy="73152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6" name="Image 0" descr="FiUplo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918" y="1898294"/>
            <a:ext cx="409651" cy="40965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260604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70816"/>
                </a:solidFill>
              </a:rPr>
              <a:t>Upload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658368" y="301752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Documents read, courses captured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2240280" y="2743200"/>
            <a:ext cx="164592" cy="914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10" name="Shape 6"/>
          <p:cNvSpPr/>
          <p:nvPr/>
        </p:nvSpPr>
        <p:spPr>
          <a:xfrm>
            <a:off x="2432304" y="1554480"/>
            <a:ext cx="1664208" cy="2377440"/>
          </a:xfrm>
          <a:prstGeom prst="roundRect">
            <a:avLst>
              <a:gd name="adj" fmla="val 6593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898648" y="1737360"/>
            <a:ext cx="731520" cy="73152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12" name="Image 1" descr="FiSlid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582" y="1898294"/>
            <a:ext cx="409651" cy="409651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432304" y="260604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70816"/>
                </a:solidFill>
              </a:rPr>
              <a:t>Rules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2542032" y="301752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Grade, credits, age, caps, Hub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123944" y="2743200"/>
            <a:ext cx="164592" cy="914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4315968" y="1554480"/>
            <a:ext cx="1664208" cy="2377440"/>
          </a:xfrm>
          <a:prstGeom prst="roundRect">
            <a:avLst>
              <a:gd name="adj" fmla="val 6593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782312" y="1737360"/>
            <a:ext cx="731520" cy="73152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18" name="Image 2" descr="FiCheckCirc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3246" y="1898294"/>
            <a:ext cx="409651" cy="409651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315968" y="260604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70816"/>
                </a:solidFill>
              </a:rPr>
              <a:t>Equivalency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4425696" y="301752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Known match applies at once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007608" y="2743200"/>
            <a:ext cx="164592" cy="914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22" name="Shape 16"/>
          <p:cNvSpPr/>
          <p:nvPr/>
        </p:nvSpPr>
        <p:spPr>
          <a:xfrm>
            <a:off x="6199632" y="1554480"/>
            <a:ext cx="1664208" cy="2377440"/>
          </a:xfrm>
          <a:prstGeom prst="roundRect">
            <a:avLst>
              <a:gd name="adj" fmla="val 6593"/>
            </a:avLst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665976" y="1737360"/>
            <a:ext cx="731520" cy="73152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24" name="Image 3" descr="FiCpu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6910" y="1898294"/>
            <a:ext cx="409651" cy="409651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199632" y="260604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Match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6309360" y="301752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C9CD"/>
                </a:solidFill>
              </a:rPr>
              <a:t>AI or built-in rules rank top 3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7891272" y="2743200"/>
            <a:ext cx="164592" cy="914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8083296" y="1554480"/>
            <a:ext cx="1664208" cy="2377440"/>
          </a:xfrm>
          <a:prstGeom prst="roundRect">
            <a:avLst>
              <a:gd name="adj" fmla="val 6593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549640" y="1737360"/>
            <a:ext cx="731520" cy="73152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30" name="Image 4" descr="FiUser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0574" y="1898294"/>
            <a:ext cx="409651" cy="409651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083296" y="260604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70816"/>
                </a:solidFill>
              </a:rPr>
              <a:t>People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8193024" y="301752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Faculty to final approver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9774936" y="2743200"/>
            <a:ext cx="164592" cy="914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34" name="Shape 26"/>
          <p:cNvSpPr/>
          <p:nvPr/>
        </p:nvSpPr>
        <p:spPr>
          <a:xfrm>
            <a:off x="9966960" y="1554480"/>
            <a:ext cx="1664208" cy="2377440"/>
          </a:xfrm>
          <a:prstGeom prst="roundRect">
            <a:avLst>
              <a:gd name="adj" fmla="val 6593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10433304" y="1737360"/>
            <a:ext cx="731520" cy="73152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36" name="Image 5" descr="FiFla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4238" y="1898294"/>
            <a:ext cx="409651" cy="409651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9966960" y="260604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70816"/>
                </a:solidFill>
              </a:rPr>
              <a:t>Posted</a:t>
            </a:r>
            <a:endParaRPr lang="en-US" sz="1800" dirty="0"/>
          </a:p>
        </p:txBody>
      </p:sp>
      <p:sp>
        <p:nvSpPr>
          <p:cNvPr id="38" name="Text 29"/>
          <p:cNvSpPr txBox="1"/>
          <p:nvPr/>
        </p:nvSpPr>
        <p:spPr>
          <a:xfrm>
            <a:off x="10076688" y="301752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Student and source notified</a:t>
            </a:r>
            <a:endParaRPr lang="en-US" sz="1300" dirty="0"/>
          </a:p>
        </p:txBody>
      </p:sp>
      <p:sp>
        <p:nvSpPr>
          <p:cNvPr id="39" name="Text 30"/>
          <p:cNvSpPr txBox="1"/>
          <p:nvPr/>
        </p:nvSpPr>
        <p:spPr>
          <a:xfrm>
            <a:off x="548640" y="4251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0816"/>
                </a:solidFill>
              </a:rPr>
              <a:t>Every course lands in a lane the student can see</a:t>
            </a:r>
            <a:endParaRPr lang="en-US" sz="1600" dirty="0"/>
          </a:p>
        </p:txBody>
      </p:sp>
      <p:sp>
        <p:nvSpPr>
          <p:cNvPr id="40" name="Shape 31"/>
          <p:cNvSpPr/>
          <p:nvPr/>
        </p:nvSpPr>
        <p:spPr>
          <a:xfrm>
            <a:off x="548640" y="4709160"/>
            <a:ext cx="1691640" cy="411480"/>
          </a:xfrm>
          <a:prstGeom prst="roundRect">
            <a:avLst>
              <a:gd name="adj" fmla="val 50000"/>
            </a:avLst>
          </a:prstGeom>
          <a:solidFill>
            <a:srgbClr val="2F7D5B"/>
          </a:solidFill>
          <a:ln w="12700">
            <a:solidFill>
              <a:srgbClr val="2F7D5B"/>
            </a:solidFill>
            <a:prstDash val="solid"/>
          </a:ln>
        </p:spPr>
      </p:sp>
      <p:sp>
        <p:nvSpPr>
          <p:cNvPr id="41" name="Text 32"/>
          <p:cNvSpPr txBox="1"/>
          <p:nvPr/>
        </p:nvSpPr>
        <p:spPr>
          <a:xfrm>
            <a:off x="548640" y="47091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Applied</a:t>
            </a:r>
            <a:endParaRPr lang="en-US" sz="1300" dirty="0"/>
          </a:p>
        </p:txBody>
      </p:sp>
      <p:sp>
        <p:nvSpPr>
          <p:cNvPr id="42" name="Shape 33"/>
          <p:cNvSpPr/>
          <p:nvPr/>
        </p:nvSpPr>
        <p:spPr>
          <a:xfrm>
            <a:off x="2423160" y="4709160"/>
            <a:ext cx="1691640" cy="411480"/>
          </a:xfrm>
          <a:prstGeom prst="roundRect">
            <a:avLst>
              <a:gd name="adj" fmla="val 50000"/>
            </a:avLst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43" name="Text 34"/>
          <p:cNvSpPr txBox="1"/>
          <p:nvPr/>
        </p:nvSpPr>
        <p:spPr>
          <a:xfrm>
            <a:off x="2423160" y="47091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Likely match</a:t>
            </a:r>
            <a:endParaRPr lang="en-US" sz="1300" dirty="0"/>
          </a:p>
        </p:txBody>
      </p:sp>
      <p:sp>
        <p:nvSpPr>
          <p:cNvPr id="44" name="Shape 35"/>
          <p:cNvSpPr/>
          <p:nvPr/>
        </p:nvSpPr>
        <p:spPr>
          <a:xfrm>
            <a:off x="4297680" y="4709160"/>
            <a:ext cx="1691640" cy="411480"/>
          </a:xfrm>
          <a:prstGeom prst="roundRect">
            <a:avLst>
              <a:gd name="adj" fmla="val 50000"/>
            </a:avLst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45" name="Text 36"/>
          <p:cNvSpPr txBox="1"/>
          <p:nvPr/>
        </p:nvSpPr>
        <p:spPr>
          <a:xfrm>
            <a:off x="4297680" y="47091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Needs syllabus</a:t>
            </a:r>
            <a:endParaRPr lang="en-US" sz="1300" dirty="0"/>
          </a:p>
        </p:txBody>
      </p:sp>
      <p:sp>
        <p:nvSpPr>
          <p:cNvPr id="46" name="Shape 37"/>
          <p:cNvSpPr/>
          <p:nvPr/>
        </p:nvSpPr>
        <p:spPr>
          <a:xfrm>
            <a:off x="6172200" y="4709160"/>
            <a:ext cx="1691640" cy="411480"/>
          </a:xfrm>
          <a:prstGeom prst="roundRect">
            <a:avLst>
              <a:gd name="adj" fmla="val 50000"/>
            </a:avLst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47" name="Text 38"/>
          <p:cNvSpPr txBox="1"/>
          <p:nvPr/>
        </p:nvSpPr>
        <p:spPr>
          <a:xfrm>
            <a:off x="6172200" y="47091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Elective only</a:t>
            </a:r>
            <a:endParaRPr lang="en-US" sz="1300" dirty="0"/>
          </a:p>
        </p:txBody>
      </p:sp>
      <p:sp>
        <p:nvSpPr>
          <p:cNvPr id="48" name="Shape 39"/>
          <p:cNvSpPr/>
          <p:nvPr/>
        </p:nvSpPr>
        <p:spPr>
          <a:xfrm>
            <a:off x="8046720" y="4709160"/>
            <a:ext cx="1691640" cy="41148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49" name="Text 40"/>
          <p:cNvSpPr txBox="1"/>
          <p:nvPr/>
        </p:nvSpPr>
        <p:spPr>
          <a:xfrm>
            <a:off x="8046720" y="47091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Not eligible</a:t>
            </a:r>
            <a:endParaRPr lang="en-US" sz="1300" dirty="0"/>
          </a:p>
        </p:txBody>
      </p:sp>
      <p:sp>
        <p:nvSpPr>
          <p:cNvPr id="50" name="Shape 41"/>
          <p:cNvSpPr/>
          <p:nvPr/>
        </p:nvSpPr>
        <p:spPr>
          <a:xfrm>
            <a:off x="9921240" y="4709160"/>
            <a:ext cx="1691640" cy="411480"/>
          </a:xfrm>
          <a:prstGeom prst="roundRect">
            <a:avLst>
              <a:gd name="adj" fmla="val 50000"/>
            </a:avLst>
          </a:prstGeom>
          <a:solidFill>
            <a:srgbClr val="6B5A5D"/>
          </a:solidFill>
          <a:ln w="12700">
            <a:solidFill>
              <a:srgbClr val="6B5A5D"/>
            </a:solidFill>
            <a:prstDash val="solid"/>
          </a:ln>
        </p:spPr>
      </p:sp>
      <p:sp>
        <p:nvSpPr>
          <p:cNvPr id="51" name="Text 42"/>
          <p:cNvSpPr txBox="1"/>
          <p:nvPr/>
        </p:nvSpPr>
        <p:spPr>
          <a:xfrm>
            <a:off x="9921240" y="47091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International</a:t>
            </a:r>
            <a:endParaRPr lang="en-US" sz="1300" dirty="0"/>
          </a:p>
        </p:txBody>
      </p:sp>
      <p:sp>
        <p:nvSpPr>
          <p:cNvPr id="52" name="Shape 43"/>
          <p:cNvSpPr/>
          <p:nvPr/>
        </p:nvSpPr>
        <p:spPr>
          <a:xfrm>
            <a:off x="548640" y="5394960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3" name="Text 44"/>
          <p:cNvSpPr txBox="1"/>
          <p:nvPr/>
        </p:nvSpPr>
        <p:spPr>
          <a:xfrm>
            <a:off x="777240" y="53949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70816"/>
                </a:solidFill>
              </a:rPr>
              <a:t>The learning loop.  </a:t>
            </a:r>
            <a:pPr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Every approved decision is saved as a reusable equivalency with effective dates, and match results are cached across students.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one Node app on Azure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103120" cy="4480560"/>
          </a:xfrm>
          <a:prstGeom prst="roundRect">
            <a:avLst>
              <a:gd name="adj" fmla="val 5217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8580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70816"/>
                </a:solidFill>
              </a:rPr>
              <a:t>Browser and phone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31520" y="2103120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210312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Student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" y="2706624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70662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Faculty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3310128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31012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Admin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1520" y="3913632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91363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Agency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31520" y="4517136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51713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Super admin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31520" y="5120640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512064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040B"/>
                </a:solidFill>
              </a:rPr>
              <a:t>Partner API (key)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108960" y="1463040"/>
            <a:ext cx="47548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9050">
            <a:solidFill>
              <a:srgbClr val="77081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291840" y="1554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70816"/>
                </a:solidFill>
              </a:rPr>
              <a:t>Azure App Service (Linux, Node 20)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3291840" y="2011680"/>
            <a:ext cx="4389120" cy="731520"/>
          </a:xfrm>
          <a:prstGeom prst="roundRect">
            <a:avLst>
              <a:gd name="adj" fmla="val 15000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3474720" y="20116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70816"/>
                </a:solidFill>
              </a:rPr>
              <a:t>React 19 SPA  </a:t>
            </a:r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Vite, Tailwind, TanStack Query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291840" y="2880360"/>
            <a:ext cx="4389120" cy="2880360"/>
          </a:xfrm>
          <a:prstGeom prst="roundRect">
            <a:avLst>
              <a:gd name="adj" fmla="val 3810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3474720" y="2926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70816"/>
                </a:solidFill>
              </a:rPr>
              <a:t>NestJS API  </a:t>
            </a:r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JWT, permission matrix, Swagger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3474720" y="3429000"/>
            <a:ext cx="1965960" cy="402336"/>
          </a:xfrm>
          <a:prstGeom prst="roundRect">
            <a:avLst>
              <a:gd name="adj" fmla="val 50000"/>
            </a:avLst>
          </a:prstGeom>
          <a:solidFill>
            <a:srgbClr val="3A040B"/>
          </a:solidFill>
          <a:ln w="12700">
            <a:solidFill>
              <a:srgbClr val="3A040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474720" y="3429000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Workflow engine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577840" y="3429000"/>
            <a:ext cx="1965960" cy="402336"/>
          </a:xfrm>
          <a:prstGeom prst="roundRect">
            <a:avLst>
              <a:gd name="adj" fmla="val 50000"/>
            </a:avLst>
          </a:prstGeom>
          <a:solidFill>
            <a:srgbClr val="3A040B"/>
          </a:solidFill>
          <a:ln w="12700">
            <a:solidFill>
              <a:srgbClr val="3A040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577840" y="3429000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Policy engine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474720" y="3995928"/>
            <a:ext cx="1965960" cy="402336"/>
          </a:xfrm>
          <a:prstGeom prst="roundRect">
            <a:avLst>
              <a:gd name="adj" fmla="val 50000"/>
            </a:avLst>
          </a:prstGeom>
          <a:solidFill>
            <a:srgbClr val="3A040B"/>
          </a:solidFill>
          <a:ln w="12700">
            <a:solidFill>
              <a:srgbClr val="3A040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474720" y="3995928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service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577840" y="3995928"/>
            <a:ext cx="1965960" cy="402336"/>
          </a:xfrm>
          <a:prstGeom prst="roundRect">
            <a:avLst>
              <a:gd name="adj" fmla="val 50000"/>
            </a:avLst>
          </a:prstGeom>
          <a:solidFill>
            <a:srgbClr val="3A040B"/>
          </a:solidFill>
          <a:ln w="12700">
            <a:solidFill>
              <a:srgbClr val="3A040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577840" y="3995928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Document reader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474720" y="4562856"/>
            <a:ext cx="1965960" cy="402336"/>
          </a:xfrm>
          <a:prstGeom prst="roundRect">
            <a:avLst>
              <a:gd name="adj" fmla="val 50000"/>
            </a:avLst>
          </a:prstGeom>
          <a:solidFill>
            <a:srgbClr val="3A040B"/>
          </a:solidFill>
          <a:ln w="12700">
            <a:solidFill>
              <a:srgbClr val="3A040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474720" y="4562856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Live events (SSE)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577840" y="4562856"/>
            <a:ext cx="1965960" cy="402336"/>
          </a:xfrm>
          <a:prstGeom prst="roundRect">
            <a:avLst>
              <a:gd name="adj" fmla="val 50000"/>
            </a:avLst>
          </a:prstGeom>
          <a:solidFill>
            <a:srgbClr val="3A040B"/>
          </a:solidFill>
          <a:ln w="12700">
            <a:solidFill>
              <a:srgbClr val="3A040B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577840" y="4562856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Partner API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3474720" y="5129784"/>
            <a:ext cx="1965960" cy="402336"/>
          </a:xfrm>
          <a:prstGeom prst="roundRect">
            <a:avLst>
              <a:gd name="adj" fmla="val 50000"/>
            </a:avLst>
          </a:prstGeom>
          <a:solidFill>
            <a:srgbClr val="3A040B"/>
          </a:solidFill>
          <a:ln w="12700">
            <a:solidFill>
              <a:srgbClr val="3A040B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474720" y="512978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Exchange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5577840" y="5129784"/>
            <a:ext cx="1965960" cy="402336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577840" y="512978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040B"/>
                </a:solidFill>
              </a:rPr>
              <a:t>Rules fallback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8321040" y="1463040"/>
            <a:ext cx="3291840" cy="1005840"/>
          </a:xfrm>
          <a:prstGeom prst="roundRect">
            <a:avLst>
              <a:gd name="adj" fmla="val 10909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8458200" y="1691640"/>
            <a:ext cx="548640" cy="54864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42" name="Image 0" descr="Fi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8901" y="1812341"/>
            <a:ext cx="307238" cy="307238"/>
          </a:xfrm>
          <a:prstGeom prst="rect">
            <a:avLst/>
          </a:prstGeom>
        </p:spPr>
      </p:pic>
      <p:sp>
        <p:nvSpPr>
          <p:cNvPr id="43" name="Text 39"/>
          <p:cNvSpPr txBox="1"/>
          <p:nvPr/>
        </p:nvSpPr>
        <p:spPr>
          <a:xfrm>
            <a:off x="9144000" y="1554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70816"/>
                </a:solidFill>
              </a:rPr>
              <a:t>Azure SQL</a:t>
            </a:r>
            <a:endParaRPr lang="en-US" sz="1400" dirty="0"/>
          </a:p>
        </p:txBody>
      </p:sp>
      <p:sp>
        <p:nvSpPr>
          <p:cNvPr id="44" name="Text 40"/>
          <p:cNvSpPr txBox="1"/>
          <p:nvPr/>
        </p:nvSpPr>
        <p:spPr>
          <a:xfrm>
            <a:off x="9144000" y="1874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1A1D"/>
                </a:solidFill>
              </a:rPr>
              <a:t>sp_TriageCourse, sp_RecordDecision, 33 migrations</a:t>
            </a:r>
            <a:endParaRPr lang="en-US" sz="1100" dirty="0"/>
          </a:p>
        </p:txBody>
      </p:sp>
      <p:sp>
        <p:nvSpPr>
          <p:cNvPr id="45" name="Shape 41"/>
          <p:cNvSpPr/>
          <p:nvPr/>
        </p:nvSpPr>
        <p:spPr>
          <a:xfrm>
            <a:off x="7882128" y="1965960"/>
            <a:ext cx="420624" cy="914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46" name="Shape 42"/>
          <p:cNvSpPr/>
          <p:nvPr/>
        </p:nvSpPr>
        <p:spPr>
          <a:xfrm>
            <a:off x="8321040" y="2606040"/>
            <a:ext cx="3291840" cy="1005840"/>
          </a:xfrm>
          <a:prstGeom prst="roundRect">
            <a:avLst>
              <a:gd name="adj" fmla="val 10909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7" name="Shape 43"/>
          <p:cNvSpPr/>
          <p:nvPr/>
        </p:nvSpPr>
        <p:spPr>
          <a:xfrm>
            <a:off x="8458200" y="2834640"/>
            <a:ext cx="548640" cy="54864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48" name="Image 1" descr="FiArchi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8901" y="2955341"/>
            <a:ext cx="307238" cy="307238"/>
          </a:xfrm>
          <a:prstGeom prst="rect">
            <a:avLst/>
          </a:prstGeom>
        </p:spPr>
      </p:pic>
      <p:sp>
        <p:nvSpPr>
          <p:cNvPr id="49" name="Text 44"/>
          <p:cNvSpPr txBox="1"/>
          <p:nvPr/>
        </p:nvSpPr>
        <p:spPr>
          <a:xfrm>
            <a:off x="9144000" y="2697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70816"/>
                </a:solidFill>
              </a:rPr>
              <a:t>Azure Blob Storage</a:t>
            </a:r>
            <a:endParaRPr lang="en-US" sz="1400" dirty="0"/>
          </a:p>
        </p:txBody>
      </p:sp>
      <p:sp>
        <p:nvSpPr>
          <p:cNvPr id="50" name="Text 45"/>
          <p:cNvSpPr txBox="1"/>
          <p:nvPr/>
        </p:nvSpPr>
        <p:spPr>
          <a:xfrm>
            <a:off x="9144000" y="3017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1A1D"/>
                </a:solidFill>
              </a:rPr>
              <a:t>Private documents, public logos</a:t>
            </a:r>
            <a:endParaRPr lang="en-US" sz="1100" dirty="0"/>
          </a:p>
        </p:txBody>
      </p:sp>
      <p:sp>
        <p:nvSpPr>
          <p:cNvPr id="51" name="Shape 46"/>
          <p:cNvSpPr/>
          <p:nvPr/>
        </p:nvSpPr>
        <p:spPr>
          <a:xfrm>
            <a:off x="7882128" y="3108960"/>
            <a:ext cx="420624" cy="914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52" name="Shape 47"/>
          <p:cNvSpPr/>
          <p:nvPr/>
        </p:nvSpPr>
        <p:spPr>
          <a:xfrm>
            <a:off x="8321040" y="3749040"/>
            <a:ext cx="3291840" cy="1005840"/>
          </a:xfrm>
          <a:prstGeom prst="roundRect">
            <a:avLst>
              <a:gd name="adj" fmla="val 10909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3" name="Shape 48"/>
          <p:cNvSpPr/>
          <p:nvPr/>
        </p:nvSpPr>
        <p:spPr>
          <a:xfrm>
            <a:off x="8458200" y="3977640"/>
            <a:ext cx="548640" cy="54864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54" name="Image 2" descr="FiMai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8901" y="4098341"/>
            <a:ext cx="307238" cy="307238"/>
          </a:xfrm>
          <a:prstGeom prst="rect">
            <a:avLst/>
          </a:prstGeom>
        </p:spPr>
      </p:pic>
      <p:sp>
        <p:nvSpPr>
          <p:cNvPr id="55" name="Text 49"/>
          <p:cNvSpPr txBox="1"/>
          <p:nvPr/>
        </p:nvSpPr>
        <p:spPr>
          <a:xfrm>
            <a:off x="9144000" y="3840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70816"/>
                </a:solidFill>
              </a:rPr>
              <a:t>Resend</a:t>
            </a:r>
            <a:endParaRPr lang="en-US" sz="1400" dirty="0"/>
          </a:p>
        </p:txBody>
      </p:sp>
      <p:sp>
        <p:nvSpPr>
          <p:cNvPr id="56" name="Text 50"/>
          <p:cNvSpPr txBox="1"/>
          <p:nvPr/>
        </p:nvSpPr>
        <p:spPr>
          <a:xfrm>
            <a:off x="9144000" y="4160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1A1D"/>
                </a:solidFill>
              </a:rPr>
              <a:t>Branded, editable emails</a:t>
            </a:r>
            <a:endParaRPr lang="en-US" sz="1100" dirty="0"/>
          </a:p>
        </p:txBody>
      </p:sp>
      <p:sp>
        <p:nvSpPr>
          <p:cNvPr id="57" name="Shape 51"/>
          <p:cNvSpPr/>
          <p:nvPr/>
        </p:nvSpPr>
        <p:spPr>
          <a:xfrm>
            <a:off x="7882128" y="4251960"/>
            <a:ext cx="420624" cy="914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58" name="Shape 52"/>
          <p:cNvSpPr/>
          <p:nvPr/>
        </p:nvSpPr>
        <p:spPr>
          <a:xfrm>
            <a:off x="8321040" y="4892040"/>
            <a:ext cx="3291840" cy="1005840"/>
          </a:xfrm>
          <a:prstGeom prst="roundRect">
            <a:avLst>
              <a:gd name="adj" fmla="val 10909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9" name="Shape 53"/>
          <p:cNvSpPr/>
          <p:nvPr/>
        </p:nvSpPr>
        <p:spPr>
          <a:xfrm>
            <a:off x="8458200" y="5120640"/>
            <a:ext cx="548640" cy="54864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60" name="Image 3" descr="FiCpu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8901" y="5241341"/>
            <a:ext cx="307238" cy="307238"/>
          </a:xfrm>
          <a:prstGeom prst="rect">
            <a:avLst/>
          </a:prstGeom>
        </p:spPr>
      </p:pic>
      <p:sp>
        <p:nvSpPr>
          <p:cNvPr id="61" name="Text 54"/>
          <p:cNvSpPr txBox="1"/>
          <p:nvPr/>
        </p:nvSpPr>
        <p:spPr>
          <a:xfrm>
            <a:off x="9144000" y="4983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70816"/>
                </a:solidFill>
              </a:rPr>
              <a:t>AI providers</a:t>
            </a:r>
            <a:endParaRPr lang="en-US" sz="1400" dirty="0"/>
          </a:p>
        </p:txBody>
      </p:sp>
      <p:sp>
        <p:nvSpPr>
          <p:cNvPr id="62" name="Text 55"/>
          <p:cNvSpPr txBox="1"/>
          <p:nvPr/>
        </p:nvSpPr>
        <p:spPr>
          <a:xfrm>
            <a:off x="9144000" y="5303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1A1D"/>
                </a:solidFill>
              </a:rPr>
              <a:t>Claude · Azure OpenAI · custom · Azure DI</a:t>
            </a:r>
            <a:endParaRPr lang="en-US" sz="1100" dirty="0"/>
          </a:p>
        </p:txBody>
      </p:sp>
      <p:sp>
        <p:nvSpPr>
          <p:cNvPr id="63" name="Shape 56"/>
          <p:cNvSpPr/>
          <p:nvPr/>
        </p:nvSpPr>
        <p:spPr>
          <a:xfrm>
            <a:off x="7882128" y="5394960"/>
            <a:ext cx="420624" cy="914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64" name="Shape 57"/>
          <p:cNvSpPr/>
          <p:nvPr/>
        </p:nvSpPr>
        <p:spPr>
          <a:xfrm>
            <a:off x="2670048" y="3703320"/>
            <a:ext cx="420624" cy="914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65" name="Text 58"/>
          <p:cNvSpPr txBox="1"/>
          <p:nvPr/>
        </p:nvSpPr>
        <p:spPr>
          <a:xfrm>
            <a:off x="3108960" y="59893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A5D"/>
                </a:solidFill>
              </a:rPr>
              <a:t>GitHub Actions builds and deploys on every push to main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Students: register, then let the documents do the typing</a:t>
            </a:r>
            <a:endParaRPr lang="en-US" sz="3000" dirty="0"/>
          </a:p>
        </p:txBody>
      </p:sp>
      <p:pic>
        <p:nvPicPr>
          <p:cNvPr id="4" name="Registration screenshot" descr="Registration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86400" cy="329184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22000"/>
              </a:srgbClr>
            </a:outerShdw>
          </a:effectLst>
        </p:spPr>
      </p:pic>
      <p:sp>
        <p:nvSpPr>
          <p:cNvPr id="5" name="Shape 1"/>
          <p:cNvSpPr/>
          <p:nvPr/>
        </p:nvSpPr>
        <p:spPr>
          <a:xfrm>
            <a:off x="548640" y="1371600"/>
            <a:ext cx="5486400" cy="329184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8B9BE"/>
            </a:solidFill>
            <a:prstDash val="solid"/>
          </a:ln>
        </p:spPr>
      </p:sp>
      <p:pic>
        <p:nvPicPr>
          <p:cNvPr id="6" name="Smart upload screenshot" descr="Smart upload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486400" cy="329184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22000"/>
              </a:srgbClr>
            </a:outerShdw>
          </a:effectLst>
        </p:spPr>
      </p:pic>
      <p:sp>
        <p:nvSpPr>
          <p:cNvPr id="7" name="Shape 2"/>
          <p:cNvSpPr/>
          <p:nvPr/>
        </p:nvSpPr>
        <p:spPr>
          <a:xfrm>
            <a:off x="6217920" y="1371600"/>
            <a:ext cx="5486400" cy="329184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8B9BE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548640" y="4892040"/>
            <a:ext cx="3566160" cy="1325880"/>
          </a:xfrm>
          <a:prstGeom prst="roundRect">
            <a:avLst>
              <a:gd name="adj" fmla="val 8276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4"/>
          <p:cNvSpPr txBox="1"/>
          <p:nvPr/>
        </p:nvSpPr>
        <p:spPr>
          <a:xfrm>
            <a:off x="731520" y="493776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0816"/>
                </a:solidFill>
              </a:rPr>
              <a:t>Six-step registration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Account, application, contact, every college + AP / IB / A-level, language, review.</a:t>
            </a: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4297680" y="4892040"/>
            <a:ext cx="3566160" cy="1325880"/>
          </a:xfrm>
          <a:prstGeom prst="roundRect">
            <a:avLst>
              <a:gd name="adj" fmla="val 8276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6"/>
          <p:cNvSpPr txBox="1"/>
          <p:nvPr/>
        </p:nvSpPr>
        <p:spPr>
          <a:xfrm>
            <a:off x="4480560" y="493776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0816"/>
                </a:solidFill>
              </a:rPr>
              <a:t>Smart Upload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Classify and extract from PDFs and photos; phone camera capture; scan view highlights each value.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8046720" y="4892040"/>
            <a:ext cx="3566160" cy="1325880"/>
          </a:xfrm>
          <a:prstGeom prst="roundRect">
            <a:avLst>
              <a:gd name="adj" fmla="val 8276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8"/>
          <p:cNvSpPr txBox="1"/>
          <p:nvPr/>
        </p:nvSpPr>
        <p:spPr>
          <a:xfrm>
            <a:off x="8229600" y="493776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0816"/>
                </a:solidFill>
              </a:rPr>
              <a:t>Five ways in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Self-register, claim link, QR code, registrar profile, agency bulk API.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Students: submit once, then watch it move</a:t>
            </a:r>
            <a:endParaRPr lang="en-US" sz="3000" dirty="0"/>
          </a:p>
        </p:txBody>
      </p:sp>
      <p:pic>
        <p:nvPicPr>
          <p:cNvPr id="4" name="Student dashboard screenshot" descr="Student dashboard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371600"/>
            <a:ext cx="4754880" cy="484632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22000"/>
              </a:srgbClr>
            </a:outerShdw>
          </a:effectLst>
        </p:spPr>
      </p:pic>
      <p:sp>
        <p:nvSpPr>
          <p:cNvPr id="5" name="Shape 1"/>
          <p:cNvSpPr/>
          <p:nvPr/>
        </p:nvSpPr>
        <p:spPr>
          <a:xfrm>
            <a:off x="4480560" y="1371600"/>
            <a:ext cx="4754880" cy="48463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8B9BE"/>
            </a:solidFill>
            <a:prstDash val="solid"/>
          </a:ln>
        </p:spPr>
      </p:sp>
      <p:pic>
        <p:nvPicPr>
          <p:cNvPr id="6" name="Mobile status screenshot" descr="Mobile status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1371600"/>
            <a:ext cx="2240280" cy="484632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22000"/>
              </a:srgbClr>
            </a:outerShdw>
          </a:effectLst>
        </p:spPr>
      </p:pic>
      <p:sp>
        <p:nvSpPr>
          <p:cNvPr id="7" name="Shape 2"/>
          <p:cNvSpPr/>
          <p:nvPr/>
        </p:nvSpPr>
        <p:spPr>
          <a:xfrm>
            <a:off x="9418320" y="1371600"/>
            <a:ext cx="2240280" cy="48463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8B9BE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9" name="Image 2" descr="FiEdit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" y="1482242"/>
            <a:ext cx="281635" cy="281635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234440" y="134416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70816"/>
                </a:solidFill>
              </a:rPr>
              <a:t>No retyping</a:t>
            </a:r>
            <a:endParaRPr lang="en-US" sz="1700" dirty="0"/>
          </a:p>
        </p:txBody>
      </p:sp>
      <p:sp>
        <p:nvSpPr>
          <p:cNvPr id="11" name="Text 5"/>
          <p:cNvSpPr txBox="1"/>
          <p:nvPr/>
        </p:nvSpPr>
        <p:spPr>
          <a:xfrm>
            <a:off x="1234440" y="1691640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Courses from the read transcript; target university + program.</a:t>
            </a:r>
            <a:endParaRPr lang="en-US" sz="1400" dirty="0"/>
          </a:p>
        </p:txBody>
      </p:sp>
      <p:sp>
        <p:nvSpPr>
          <p:cNvPr id="12" name="Shape 6"/>
          <p:cNvSpPr/>
          <p:nvPr/>
        </p:nvSpPr>
        <p:spPr>
          <a:xfrm>
            <a:off x="548640" y="2340864"/>
            <a:ext cx="502920" cy="50292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13" name="Image 3" descr="FiActivit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" y="2451506"/>
            <a:ext cx="281635" cy="281635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234440" y="231343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70816"/>
                </a:solidFill>
              </a:rPr>
              <a:t>Live tracker</a:t>
            </a:r>
            <a:endParaRPr lang="en-US" sz="1700" dirty="0"/>
          </a:p>
        </p:txBody>
      </p:sp>
      <p:sp>
        <p:nvSpPr>
          <p:cNvPr id="15" name="Text 8"/>
          <p:cNvSpPr txBox="1"/>
          <p:nvPr/>
        </p:nvSpPr>
        <p:spPr>
          <a:xfrm>
            <a:off x="1234440" y="2660904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Stage, owner, notes beside each step; no reload.</a:t>
            </a:r>
            <a:endParaRPr lang="en-US" sz="1400" dirty="0"/>
          </a:p>
        </p:txBody>
      </p:sp>
      <p:sp>
        <p:nvSpPr>
          <p:cNvPr id="16" name="Shape 9"/>
          <p:cNvSpPr/>
          <p:nvPr/>
        </p:nvSpPr>
        <p:spPr>
          <a:xfrm>
            <a:off x="548640" y="3310128"/>
            <a:ext cx="502920" cy="50292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17" name="Image 4" descr="FiPieChar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" y="3420770"/>
            <a:ext cx="281635" cy="281635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234440" y="328269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70816"/>
                </a:solidFill>
              </a:rPr>
              <a:t>Degree progress</a:t>
            </a:r>
            <a:endParaRPr lang="en-US" sz="1700" dirty="0"/>
          </a:p>
        </p:txBody>
      </p:sp>
      <p:sp>
        <p:nvSpPr>
          <p:cNvPr id="19" name="Text 11"/>
          <p:cNvSpPr txBox="1"/>
          <p:nvPr/>
        </p:nvSpPr>
        <p:spPr>
          <a:xfrm>
            <a:off x="1234440" y="3630168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Secure, likely, pending, not counted vs the cap.</a:t>
            </a:r>
            <a:endParaRPr lang="en-US" sz="1400" dirty="0"/>
          </a:p>
        </p:txBody>
      </p:sp>
      <p:sp>
        <p:nvSpPr>
          <p:cNvPr id="20" name="Shape 12"/>
          <p:cNvSpPr/>
          <p:nvPr/>
        </p:nvSpPr>
        <p:spPr>
          <a:xfrm>
            <a:off x="548640" y="4279392"/>
            <a:ext cx="502920" cy="50292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21" name="Image 5" descr="FiColumn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82" y="4390034"/>
            <a:ext cx="281635" cy="281635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234440" y="425196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70816"/>
                </a:solidFill>
              </a:rPr>
              <a:t>Explore</a:t>
            </a:r>
            <a:endParaRPr lang="en-US" sz="1700" dirty="0"/>
          </a:p>
        </p:txBody>
      </p:sp>
      <p:sp>
        <p:nvSpPr>
          <p:cNvPr id="23" name="Text 14"/>
          <p:cNvSpPr txBox="1"/>
          <p:nvPr/>
        </p:nvSpPr>
        <p:spPr>
          <a:xfrm>
            <a:off x="1234440" y="4599432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Compare up to 3 universities, then apply.</a:t>
            </a:r>
            <a:endParaRPr lang="en-US" sz="1400" dirty="0"/>
          </a:p>
        </p:txBody>
      </p:sp>
      <p:sp>
        <p:nvSpPr>
          <p:cNvPr id="24" name="Shape 15"/>
          <p:cNvSpPr/>
          <p:nvPr/>
        </p:nvSpPr>
        <p:spPr>
          <a:xfrm>
            <a:off x="548640" y="5248656"/>
            <a:ext cx="502920" cy="50292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25" name="Image 6" descr="FiRotateCcw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282" y="5359298"/>
            <a:ext cx="281635" cy="281635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1234440" y="522122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70816"/>
                </a:solidFill>
              </a:rPr>
              <a:t>Stay in control</a:t>
            </a:r>
            <a:endParaRPr lang="en-US" sz="1700" dirty="0"/>
          </a:p>
        </p:txBody>
      </p:sp>
      <p:sp>
        <p:nvSpPr>
          <p:cNvPr id="27" name="Text 17"/>
          <p:cNvSpPr txBox="1"/>
          <p:nvPr/>
        </p:nvSpPr>
        <p:spPr>
          <a:xfrm>
            <a:off x="1234440" y="5568696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Edit pending courses, appeal, cancel.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six-course story, upload to posting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5A5D"/>
                </a:solidFill>
              </a:rPr>
              <a:t>External course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120640" y="1325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5A5D"/>
                </a:solidFill>
              </a:rPr>
              <a:t>Lane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406640" y="1325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5A5D"/>
                </a:solidFill>
              </a:rPr>
              <a:t>What the student sees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11064240" cy="594360"/>
          </a:xfrm>
          <a:prstGeom prst="roundRect">
            <a:avLst>
              <a:gd name="adj" fmla="val 18462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22960" y="17373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1A1D"/>
                </a:solidFill>
              </a:rPr>
              <a:t>CSC 110  Intro to Programming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120640" y="1847088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F7D5B"/>
          </a:solidFill>
          <a:ln w="12700">
            <a:solidFill>
              <a:srgbClr val="2F7D5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120640" y="18470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Applied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406640" y="17373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BU CAS CS 111 · 4 cr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2423160"/>
            <a:ext cx="1106424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22960" y="24231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1A1D"/>
                </a:solidFill>
              </a:rPr>
              <a:t>MAT 210  Calculus I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120640" y="2532888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F7D5B"/>
          </a:solidFill>
          <a:ln w="12700">
            <a:solidFill>
              <a:srgbClr val="2F7D5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120640" y="25328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Applied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406640" y="24231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BU CAS MA 123 · 4 cr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3108960"/>
            <a:ext cx="11064240" cy="594360"/>
          </a:xfrm>
          <a:prstGeom prst="roundRect">
            <a:avLst>
              <a:gd name="adj" fmla="val 18462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822960" y="31089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1A1D"/>
                </a:solidFill>
              </a:rPr>
              <a:t>ECO 101  Microeconomics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120640" y="3218688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F7D5B"/>
          </a:solidFill>
          <a:ln w="12700">
            <a:solidFill>
              <a:srgbClr val="2F7D5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120640" y="32186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Applied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406640" y="31089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BU CAS EC 101 · 3 cr as taken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48640" y="3794760"/>
            <a:ext cx="1106424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822960" y="37947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1A1D"/>
                </a:solidFill>
              </a:rPr>
              <a:t>CSC 220  Data Structures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120640" y="3904488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120640" y="39044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Likely match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7406640" y="37947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CS 112 ranked first · CS dept decides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548640" y="4480560"/>
            <a:ext cx="11064240" cy="594360"/>
          </a:xfrm>
          <a:prstGeom prst="roundRect">
            <a:avLst>
              <a:gd name="adj" fmla="val 18462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822960" y="44805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1A1D"/>
                </a:solidFill>
              </a:rPr>
              <a:t>CSC 240  Discrete Math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5120640" y="4590288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120640" y="45902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Needs syllabus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7406640" y="44805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CS 131 or MA 293 · evaluator picks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548640" y="5166360"/>
            <a:ext cx="1106424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Text 30"/>
          <p:cNvSpPr txBox="1"/>
          <p:nvPr/>
        </p:nvSpPr>
        <p:spPr>
          <a:xfrm>
            <a:off x="822960" y="51663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1A1D"/>
                </a:solidFill>
              </a:rPr>
              <a:t>CIS 150  Linear Algebra (quarter)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5120640" y="5276088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120640" y="52760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 qtr → 2.66 cr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7406640" y="51663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vs MA 242 (4) · evaluator decides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0816"/>
                </a:solidFill>
              </a:rPr>
              <a:t>11 credits secure at upload (4 + 4 + 3); three pending courses, each with a named next step.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Evaluators: everything in one place</a:t>
            </a:r>
            <a:endParaRPr lang="en-US" sz="3000" dirty="0"/>
          </a:p>
        </p:txBody>
      </p:sp>
      <p:pic>
        <p:nvPicPr>
          <p:cNvPr id="4" name="Request review screenshot" descr="Request review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315200" cy="484632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22000"/>
              </a:srgbClr>
            </a:outerShdw>
          </a:effectLst>
        </p:spPr>
      </p:pic>
      <p:sp>
        <p:nvSpPr>
          <p:cNvPr id="5" name="Shape 1"/>
          <p:cNvSpPr/>
          <p:nvPr/>
        </p:nvSpPr>
        <p:spPr>
          <a:xfrm>
            <a:off x="548640" y="1371600"/>
            <a:ext cx="7315200" cy="48463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8B9BE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138160" y="13716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brief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8138160" y="17373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Policy flags, credit math and the Hub rule, for every stage a reviewer can see.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8138160" y="25877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Side-by-side compare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8138160" y="295351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Shared topics highlighted, overlap %, credit math, candidates 1 to 3.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138160" y="38039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click or bulk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4169664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Accept all suggestions ≥ X%; approve clean requests from the queue.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138160" y="50200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Scoped and safe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8138160" y="5385816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Staff see their university; outgoing requests are read-only.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decision makes the next one faster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2971800" cy="2011680"/>
          </a:xfrm>
          <a:prstGeom prst="roundRect">
            <a:avLst>
              <a:gd name="adj" fmla="val 5455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45920"/>
            <a:ext cx="566928" cy="566928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6" name="Image 0" descr="FiCheckSqua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964" y="1770644"/>
            <a:ext cx="317480" cy="317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24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70816"/>
                </a:solidFill>
              </a:rPr>
              <a:t>1  Faculty decides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6517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Equivalent, elective, no credit or BU-only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3977640" y="1417320"/>
            <a:ext cx="2971800" cy="2011680"/>
          </a:xfrm>
          <a:prstGeom prst="roundRect">
            <a:avLst>
              <a:gd name="adj" fmla="val 5455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206240" y="1645920"/>
            <a:ext cx="566928" cy="566928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11" name="Image 1" descr="FiDataba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0964" y="1770644"/>
            <a:ext cx="317480" cy="3174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20624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70816"/>
                </a:solidFill>
              </a:rPr>
              <a:t>2  Equivalency saved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4206240" y="26517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With effective dates; one-to-many supported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977640" y="3886200"/>
            <a:ext cx="2971800" cy="2011680"/>
          </a:xfrm>
          <a:prstGeom prst="roundRect">
            <a:avLst>
              <a:gd name="adj" fmla="val 5455"/>
            </a:avLst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206240" y="4114800"/>
            <a:ext cx="566928" cy="56692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16" name="Image 2" descr="FiZa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964" y="4239524"/>
            <a:ext cx="317480" cy="3174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206240" y="4754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  Next student: instant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4206240" y="51206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C9CD"/>
                </a:solidFill>
              </a:rPr>
              <a:t>Known match applies at triage, no review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48640" y="3886200"/>
            <a:ext cx="2971800" cy="2011680"/>
          </a:xfrm>
          <a:prstGeom prst="roundRect">
            <a:avLst>
              <a:gd name="adj" fmla="val 5455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777240" y="4114800"/>
            <a:ext cx="566928" cy="566928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21" name="Image 3" descr="FiBookOp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964" y="4239524"/>
            <a:ext cx="317480" cy="3174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77240" y="4754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70816"/>
                </a:solidFill>
              </a:rPr>
              <a:t>4  Skills learn</a:t>
            </a:r>
            <a:endParaRPr lang="en-US" sz="1700" dirty="0"/>
          </a:p>
        </p:txBody>
      </p:sp>
      <p:sp>
        <p:nvSpPr>
          <p:cNvPr id="23" name="Text 16"/>
          <p:cNvSpPr txBox="1"/>
          <p:nvPr/>
        </p:nvSpPr>
        <p:spPr>
          <a:xfrm>
            <a:off x="777240" y="51206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Overrides become suggested playbook rules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3566160" y="2423160"/>
            <a:ext cx="365760" cy="914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5458968" y="3474720"/>
            <a:ext cx="914" cy="36576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26" name="Shape 19"/>
          <p:cNvSpPr/>
          <p:nvPr/>
        </p:nvSpPr>
        <p:spPr>
          <a:xfrm flipH="1">
            <a:off x="3566160" y="4892040"/>
            <a:ext cx="365760" cy="914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27" name="Shape 20"/>
          <p:cNvSpPr/>
          <p:nvPr/>
        </p:nvSpPr>
        <p:spPr>
          <a:xfrm flipV="1">
            <a:off x="2029968" y="3474720"/>
            <a:ext cx="914" cy="36576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7315200" y="1417320"/>
            <a:ext cx="4297680" cy="448056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Text 22"/>
          <p:cNvSpPr txBox="1"/>
          <p:nvPr/>
        </p:nvSpPr>
        <p:spPr>
          <a:xfrm>
            <a:off x="7543800" y="15544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one university</a:t>
            </a:r>
            <a:endParaRPr lang="en-US" sz="1900" dirty="0"/>
          </a:p>
        </p:txBody>
      </p:sp>
      <p:sp>
        <p:nvSpPr>
          <p:cNvPr id="30" name="Text 23"/>
          <p:cNvSpPr txBox="1"/>
          <p:nvPr/>
        </p:nvSpPr>
        <p:spPr>
          <a:xfrm>
            <a:off x="7543800" y="2057400"/>
            <a:ext cx="39319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1A1D"/>
                </a:solidFill>
              </a:rPr>
              <a:t>Cross-student match cache: one external course, one model call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1A1D"/>
                </a:solidFill>
              </a:rPr>
              <a:t>Equivalency network: anonymised history from other universities, optional confidence boost (off by default)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1A1D"/>
                </a:solidFill>
              </a:rPr>
              <a:t>Learning tab: weekly agreement, top-3 rate and recurring mistakes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1A1D"/>
                </a:solidFill>
              </a:rPr>
              <a:t>A person adds every learned rule; nothing changes on its own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workflow per university, designed not coded</a:t>
            </a:r>
            <a:endParaRPr lang="en-US" sz="3000" dirty="0"/>
          </a:p>
        </p:txBody>
      </p:sp>
      <p:pic>
        <p:nvPicPr>
          <p:cNvPr id="4" name="Workflow designer screenshot" descr="Workflow designer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371600"/>
            <a:ext cx="7223760" cy="484632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22000"/>
              </a:srgbClr>
            </a:outerShdw>
          </a:effectLst>
        </p:spPr>
      </p:pic>
      <p:sp>
        <p:nvSpPr>
          <p:cNvPr id="5" name="Shape 1"/>
          <p:cNvSpPr/>
          <p:nvPr/>
        </p:nvSpPr>
        <p:spPr>
          <a:xfrm>
            <a:off x="4480560" y="1371600"/>
            <a:ext cx="7223760" cy="48463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8B9BE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7" name="Image 1" descr="FiLay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" y="1482242"/>
            <a:ext cx="281635" cy="28163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34440" y="134416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70816"/>
                </a:solidFill>
              </a:rPr>
              <a:t>Stages</a:t>
            </a:r>
            <a:endParaRPr lang="en-US" sz="1700" dirty="0"/>
          </a:p>
        </p:txBody>
      </p:sp>
      <p:sp>
        <p:nvSpPr>
          <p:cNvPr id="9" name="Text 4"/>
          <p:cNvSpPr txBox="1"/>
          <p:nvPr/>
        </p:nvSpPr>
        <p:spPr>
          <a:xfrm>
            <a:off x="1234440" y="1691640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System, review or approval; agent task per stage.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548640" y="2340864"/>
            <a:ext cx="502920" cy="50292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11" name="Image 2" descr="FiUs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" y="2451506"/>
            <a:ext cx="281635" cy="281635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234440" y="231343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70816"/>
                </a:solidFill>
              </a:rPr>
              <a:t>Approver groups</a:t>
            </a:r>
            <a:endParaRPr lang="en-US" sz="1700" dirty="0"/>
          </a:p>
        </p:txBody>
      </p:sp>
      <p:sp>
        <p:nvSpPr>
          <p:cNvPr id="13" name="Text 7"/>
          <p:cNvSpPr txBox="1"/>
          <p:nvPr/>
        </p:nvSpPr>
        <p:spPr>
          <a:xfrm>
            <a:off x="1234440" y="2660904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Role, group or person, per university.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548640" y="3310128"/>
            <a:ext cx="502920" cy="50292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15" name="Image 3" descr="FiClo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" y="3420770"/>
            <a:ext cx="281635" cy="281635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234440" y="328269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70816"/>
                </a:solidFill>
              </a:rPr>
              <a:t>SLAs</a:t>
            </a:r>
            <a:endParaRPr lang="en-US" sz="1700" dirty="0"/>
          </a:p>
        </p:txBody>
      </p:sp>
      <p:sp>
        <p:nvSpPr>
          <p:cNvPr id="17" name="Text 10"/>
          <p:cNvSpPr txBox="1"/>
          <p:nvPr/>
        </p:nvSpPr>
        <p:spPr>
          <a:xfrm>
            <a:off x="1234440" y="3630168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Overdue stages escalate once by email.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548640" y="4279392"/>
            <a:ext cx="502920" cy="50292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19" name="Image 4" descr="FiCheckCirc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" y="4390034"/>
            <a:ext cx="281635" cy="281635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234440" y="425196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70816"/>
                </a:solidFill>
              </a:rPr>
              <a:t>Auto-approve</a:t>
            </a:r>
            <a:endParaRPr lang="en-US" sz="1700" dirty="0"/>
          </a:p>
        </p:txBody>
      </p:sp>
      <p:sp>
        <p:nvSpPr>
          <p:cNvPr id="21" name="Text 13"/>
          <p:cNvSpPr txBox="1"/>
          <p:nvPr/>
        </p:nvSpPr>
        <p:spPr>
          <a:xfrm>
            <a:off x="1234440" y="4599432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Accept suggestions ≥ a threshold; never rejects.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548640" y="5248656"/>
            <a:ext cx="502920" cy="50292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23" name="Image 5" descr="FiSkipForwar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82" y="5359298"/>
            <a:ext cx="281635" cy="281635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234440" y="522122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70816"/>
                </a:solidFill>
              </a:rPr>
              <a:t>Bypass and notes</a:t>
            </a:r>
            <a:endParaRPr lang="en-US" sz="1700" dirty="0"/>
          </a:p>
        </p:txBody>
      </p:sp>
      <p:sp>
        <p:nvSpPr>
          <p:cNvPr id="25" name="Text 16"/>
          <p:cNvSpPr txBox="1"/>
          <p:nvPr/>
        </p:nvSpPr>
        <p:spPr>
          <a:xfrm>
            <a:off x="1234440" y="5568696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Skip a stage; internal vs student notes.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BU's published rules, enforced and explained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49808" y="1645920"/>
            <a:ext cx="566928" cy="566928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6" name="Image 0" descr="FiPerc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532" y="1770644"/>
            <a:ext cx="317480" cy="317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08760" y="1417320"/>
            <a:ext cx="4343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0816"/>
                </a:solidFill>
              </a:rPr>
              <a:t>Credit cap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Per applicant type (68 for transfers), including AP, IB and A-level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6172200" y="141732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6373368" y="1645920"/>
            <a:ext cx="566928" cy="566928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10" name="Image 1" descr="FiAwa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8092" y="1770644"/>
            <a:ext cx="317480" cy="3174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132320" y="1417320"/>
            <a:ext cx="4343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0816"/>
                </a:solidFill>
              </a:rPr>
              <a:t>Grades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C or better; P/F and S/U go to review, with the Spring 2020 exception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48640" y="260604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749808" y="2834640"/>
            <a:ext cx="566928" cy="566928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14" name="Image 2" descr="FiCalend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532" y="2959364"/>
            <a:ext cx="317480" cy="3174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508760" y="2606040"/>
            <a:ext cx="4343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0816"/>
                </a:solidFill>
              </a:rPr>
              <a:t>Age and accreditation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Old or unaccredited coursework goes to review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6172200" y="260604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6373368" y="2834640"/>
            <a:ext cx="566928" cy="566928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18" name="Image 3" descr="FiXCirc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8092" y="2959364"/>
            <a:ext cx="317480" cy="31748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132320" y="2606040"/>
            <a:ext cx="4343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0816"/>
                </a:solidFill>
              </a:rPr>
              <a:t>Not eligible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Internships, research, military and life experience</a:t>
            </a: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48640" y="379476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749808" y="4023360"/>
            <a:ext cx="566928" cy="566928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22" name="Image 4" descr="FiGlob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532" y="4148084"/>
            <a:ext cx="317480" cy="31748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508760" y="3794760"/>
            <a:ext cx="4343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0816"/>
                </a:solidFill>
              </a:rPr>
              <a:t>International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Outside-US coursework routed to International Admissions</a:t>
            </a:r>
            <a:endParaRPr lang="en-US" sz="1600" dirty="0"/>
          </a:p>
        </p:txBody>
      </p:sp>
      <p:sp>
        <p:nvSpPr>
          <p:cNvPr id="24" name="Shape 16"/>
          <p:cNvSpPr/>
          <p:nvPr/>
        </p:nvSpPr>
        <p:spPr>
          <a:xfrm>
            <a:off x="6172200" y="379476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6373368" y="4023360"/>
            <a:ext cx="566928" cy="566928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26" name="Image 5" descr="FiRepea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8092" y="4148084"/>
            <a:ext cx="317480" cy="31748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132320" y="3794760"/>
            <a:ext cx="4343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0816"/>
                </a:solidFill>
              </a:rPr>
              <a:t>Quarter credits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× 2/3, truncated: 4 quarter = 2.66 semester</a:t>
            </a:r>
            <a:endParaRPr lang="en-US" sz="1600" dirty="0"/>
          </a:p>
        </p:txBody>
      </p:sp>
      <p:sp>
        <p:nvSpPr>
          <p:cNvPr id="28" name="Shape 19"/>
          <p:cNvSpPr/>
          <p:nvPr/>
        </p:nvSpPr>
        <p:spPr>
          <a:xfrm>
            <a:off x="548640" y="498348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0"/>
          <p:cNvSpPr/>
          <p:nvPr/>
        </p:nvSpPr>
        <p:spPr>
          <a:xfrm>
            <a:off x="749808" y="5212080"/>
            <a:ext cx="566928" cy="566928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30" name="Image 6" descr="FiBoo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532" y="5336804"/>
            <a:ext cx="317480" cy="31748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508760" y="4983480"/>
            <a:ext cx="4343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0816"/>
                </a:solidFill>
              </a:rPr>
              <a:t>Programme rules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12 BU rules, e.g. Econ at most 4 courses at 200+</a:t>
            </a:r>
            <a:endParaRPr lang="en-US" sz="1600" dirty="0"/>
          </a:p>
        </p:txBody>
      </p:sp>
      <p:sp>
        <p:nvSpPr>
          <p:cNvPr id="32" name="Shape 22"/>
          <p:cNvSpPr/>
          <p:nvPr/>
        </p:nvSpPr>
        <p:spPr>
          <a:xfrm>
            <a:off x="6172200" y="498348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Shape 23"/>
          <p:cNvSpPr/>
          <p:nvPr/>
        </p:nvSpPr>
        <p:spPr>
          <a:xfrm>
            <a:off x="6373368" y="5212080"/>
            <a:ext cx="566928" cy="566928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34" name="Image 7" descr="FiClock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8092" y="5336804"/>
            <a:ext cx="317480" cy="317480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7132320" y="4983480"/>
            <a:ext cx="4343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0816"/>
                </a:solidFill>
              </a:rPr>
              <a:t>One-year deadline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Reminders at 90 / 30 / 7 days, then review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AI, on a leash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4290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It ranks and reads. People decide. It keeps working when it is off.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that keeps working when AI is off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675120" cy="1325880"/>
          </a:xfrm>
          <a:prstGeom prst="roundRect">
            <a:avLst>
              <a:gd name="adj" fmla="val 8276"/>
            </a:avLst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640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463040"/>
            <a:ext cx="5577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AI provider</a:t>
            </a:r>
            <a:endParaRPr lang="en-US" sz="19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Claude (direct API), Azure OpenAI or any OpenAI-compatible service for matching; Azure Document Intelligence for reading. Cheap model first, escalates only when unsure.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2880360"/>
            <a:ext cx="6675120" cy="1325880"/>
          </a:xfrm>
          <a:prstGeom prst="roundRect">
            <a:avLst>
              <a:gd name="adj" fmla="val 8276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880360"/>
            <a:ext cx="640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A04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926080"/>
            <a:ext cx="5577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040B"/>
                </a:solidFill>
              </a:rPr>
              <a:t>Built-in rules</a:t>
            </a:r>
            <a:endParaRPr lang="en-US" sz="1900" dirty="0"/>
          </a:p>
          <a:p>
            <a:pPr indent="0" marL="0">
              <a:buNone/>
            </a:pPr>
            <a:r>
              <a:rPr lang="en-US" sz="1300" dirty="0">
                <a:solidFill>
                  <a:srgbClr val="3A040B"/>
                </a:solidFill>
              </a:rPr>
              <a:t>Zero tokens. Reads text PDFs, classifies, extracts fields; ranks courses by title, topics, code and credits. Confidence capped at 70%, so it never auto-approves at default thresholds.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548640" y="4343400"/>
            <a:ext cx="6675120" cy="1325880"/>
          </a:xfrm>
          <a:prstGeom prst="roundRect">
            <a:avLst>
              <a:gd name="adj" fmla="val 8276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4343400"/>
            <a:ext cx="640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4389120"/>
            <a:ext cx="5577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1A1D"/>
                </a:solidFill>
              </a:rPr>
              <a:t>Human</a:t>
            </a:r>
            <a:endParaRPr lang="en-US" sz="1900" dirty="0"/>
          </a:p>
          <a:p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Faculty and students can edit or override every result. Nothing is ever auto-rejected.</a:t>
            </a:r>
            <a:endParaRPr lang="en-US" sz="1900" dirty="0"/>
          </a:p>
        </p:txBody>
      </p:sp>
      <p:pic>
        <p:nvPicPr>
          <p:cNvPr id="13" name="AI Controls screenshot" descr="AI Controls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417320"/>
            <a:ext cx="4206240" cy="425196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22000"/>
              </a:srgbClr>
            </a:outerShdw>
          </a:effectLst>
        </p:spPr>
      </p:pic>
      <p:sp>
        <p:nvSpPr>
          <p:cNvPr id="14" name="Shape 10"/>
          <p:cNvSpPr/>
          <p:nvPr/>
        </p:nvSpPr>
        <p:spPr>
          <a:xfrm>
            <a:off x="7498080" y="1417320"/>
            <a:ext cx="4206240" cy="425196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8B9BE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0816"/>
                </a:solidFill>
              </a:rPr>
              <a:t>Honest status: no Anthropic key yet, so the AI paths are built but not verified live. The rules engine runs every AI step today.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Cheap to run, and every dollar is visible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0352" cy="530352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463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3716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70816"/>
                </a:solidFill>
              </a:rPr>
              <a:t>Lexical shortlist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Catalogue ranked locally; only top N sent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530352" cy="530352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3774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22860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70816"/>
                </a:solidFill>
              </a:rPr>
              <a:t>Cross-student cache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Same course, one model call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3291840"/>
            <a:ext cx="530352" cy="530352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2918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32004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70816"/>
                </a:solidFill>
              </a:rPr>
              <a:t>Cheap model first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Escalate only when unsure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48640" y="4206240"/>
            <a:ext cx="530352" cy="530352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42062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4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41148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70816"/>
                </a:solidFill>
              </a:rPr>
              <a:t>Prompt caching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Playbook reused across calls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48640" y="5120640"/>
            <a:ext cx="530352" cy="530352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51206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5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50292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70816"/>
                </a:solidFill>
              </a:rPr>
              <a:t>Budgets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Monthly and per-request caps, then rules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5852160" y="1371600"/>
            <a:ext cx="5760720" cy="4846320"/>
          </a:xfrm>
          <a:prstGeom prst="roundRect">
            <a:avLst>
              <a:gd name="adj" fmla="val 2264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6126480" y="15087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super admin sees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6126480" y="2011680"/>
            <a:ext cx="5303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1A1D"/>
                </a:solidFill>
              </a:rPr>
              <a:t>Dashboard "AI agents" block, separate from transfer operations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1A1D"/>
                </a:solidFill>
              </a:rPr>
              <a:t>AI Controls → Usage: tokens, cost, tokens avoided, cache hits, response times, by model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1A1D"/>
                </a:solidFill>
              </a:rPr>
              <a:t>"$ Spent by request": matching, documents and briefs split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1A1D"/>
                </a:solidFill>
              </a:rPr>
              <a:t>Spent this month against a budget meter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1A1D"/>
                </a:solidFill>
              </a:rPr>
              <a:t>Providers: switch Claude, Azure OpenAI or a custom service; test the connection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1A1D"/>
                </a:solidFill>
              </a:rPr>
              <a:t>Benchmark: dry-run every ready engine on real students; Learning: agreement trend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1A1D"/>
                </a:solidFill>
              </a:rPr>
              <a:t>Playbook skills: editable instructions per agent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Measured, not claimed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48640" y="16459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96.8%</a:t>
            </a:r>
            <a:endParaRPr lang="en-US" sz="5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880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1A1D"/>
                </a:solidFill>
              </a:rPr>
              <a:t>right BU course in the top 3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297680" y="146304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297680" y="16459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88.9%</a:t>
            </a:r>
            <a:endParaRPr lang="en-US" sz="5800" dirty="0"/>
          </a:p>
        </p:txBody>
      </p:sp>
      <p:sp>
        <p:nvSpPr>
          <p:cNvPr id="9" name="Text 6"/>
          <p:cNvSpPr txBox="1"/>
          <p:nvPr/>
        </p:nvSpPr>
        <p:spPr>
          <a:xfrm>
            <a:off x="4480560" y="2880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1A1D"/>
                </a:solidFill>
              </a:rPr>
              <a:t>right BU course ranked first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046720" y="146304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046720" y="16459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3A04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58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2880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1A1D"/>
                </a:solidFill>
              </a:rPr>
              <a:t>held-out past decisions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977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70816"/>
                </a:solidFill>
              </a:rPr>
              <a:t>Matcher  </a:t>
            </a:r>
            <a:pPr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Built-in rules matcher (zero tokens). No AI accuracy is claimed: the AI matcher has not run live yet.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7274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70816"/>
                </a:solidFill>
              </a:rPr>
              <a:t>Live smoke test  </a:t>
            </a:r>
            <a:pPr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39 of 40 HTTP checks pass on the deployed app, 1 write check skipped, 0 failed.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4772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70816"/>
                </a:solidFill>
              </a:rPr>
              <a:t>Database checks  </a:t>
            </a:r>
            <a:pPr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243 SQL smoke checks and all 11 triage contract cases pass, including the 2.66 quarter rule.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and permissions, changed without a deploy</a:t>
            </a:r>
            <a:endParaRPr lang="en-US" sz="3000" dirty="0"/>
          </a:p>
        </p:txBody>
      </p:sp>
      <p:pic>
        <p:nvPicPr>
          <p:cNvPr id="4" name="Roles and permissions screenshot" descr="Roles and permissions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371600"/>
            <a:ext cx="6035040" cy="484632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22000"/>
              </a:srgbClr>
            </a:outerShdw>
          </a:effectLst>
        </p:spPr>
      </p:pic>
      <p:sp>
        <p:nvSpPr>
          <p:cNvPr id="5" name="Shape 1"/>
          <p:cNvSpPr/>
          <p:nvPr/>
        </p:nvSpPr>
        <p:spPr>
          <a:xfrm>
            <a:off x="5669280" y="1371600"/>
            <a:ext cx="6035040" cy="48463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8B9BE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48640" y="1572768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48640" y="15727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student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2194560" y="1417320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Registers, uploads, submits, tracks, appeals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48640" y="237744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23774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faculty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2194560" y="2221992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Department evaluator; decides at review stages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18211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48640" y="318211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admin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194560" y="3026664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Credit evaluation staff, scoped to a university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48640" y="3986784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48640" y="39867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agency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2194560" y="3831336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Partner agency; submits for its students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48640" y="4791456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48640" y="479145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super_admin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2194560" y="4636008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Platform owner: data, workflows, AI, roles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548640" y="5596128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48640" y="55961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040B"/>
                </a:solidFill>
              </a:rPr>
              <a:t>custom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2194560" y="5440680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Built on a base role, with its own grants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 from everywhere, checked before it lands</a:t>
            </a:r>
            <a:endParaRPr lang="en-US" sz="3000" dirty="0"/>
          </a:p>
        </p:txBody>
      </p:sp>
      <p:pic>
        <p:nvPicPr>
          <p:cNvPr id="4" name="Partner portal screenshot" descr="Partner portal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86400" cy="320040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22000"/>
              </a:srgbClr>
            </a:outerShdw>
          </a:effectLst>
        </p:spPr>
      </p:pic>
      <p:sp>
        <p:nvSpPr>
          <p:cNvPr id="5" name="Shape 1"/>
          <p:cNvSpPr/>
          <p:nvPr/>
        </p:nvSpPr>
        <p:spPr>
          <a:xfrm>
            <a:off x="548640" y="1371600"/>
            <a:ext cx="5486400" cy="3200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8B9BE"/>
            </a:solidFill>
            <a:prstDash val="solid"/>
          </a:ln>
        </p:spPr>
      </p:sp>
      <p:pic>
        <p:nvPicPr>
          <p:cNvPr id="6" name="Intake lookup screenshot" descr="Intake lookup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486400" cy="320040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22000"/>
              </a:srgbClr>
            </a:outerShdw>
          </a:effectLst>
        </p:spPr>
      </p:pic>
      <p:sp>
        <p:nvSpPr>
          <p:cNvPr id="7" name="Shape 2"/>
          <p:cNvSpPr/>
          <p:nvPr/>
        </p:nvSpPr>
        <p:spPr>
          <a:xfrm>
            <a:off x="6217920" y="1371600"/>
            <a:ext cx="5486400" cy="3200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8B9BE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4864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A5D"/>
                </a:solidFill>
              </a:rPr>
              <a:t>Partner portal: universities, programs, courses, topics, students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621792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A5D"/>
                </a:solidFill>
              </a:rPr>
              <a:t>Intake: ID or passport + email, then a claim link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548640" y="5074920"/>
            <a:ext cx="2057400" cy="1051560"/>
          </a:xfrm>
          <a:prstGeom prst="roundRect">
            <a:avLst>
              <a:gd name="adj" fmla="val 10435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731520" y="5321808"/>
            <a:ext cx="548640" cy="54864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12" name="Image 2" descr="FiUserPlu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5442509"/>
            <a:ext cx="307238" cy="307238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371600" y="507492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A1D"/>
                </a:solidFill>
              </a:rPr>
              <a:t>Self-register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2788920" y="5074920"/>
            <a:ext cx="2057400" cy="1051560"/>
          </a:xfrm>
          <a:prstGeom prst="roundRect">
            <a:avLst>
              <a:gd name="adj" fmla="val 10435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2971800" y="5321808"/>
            <a:ext cx="548640" cy="54864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16" name="Image 3" descr="FiMai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2501" y="5442509"/>
            <a:ext cx="307238" cy="30723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3611880" y="507492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A1D"/>
                </a:solidFill>
              </a:rPr>
              <a:t>Claim link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5029200" y="5074920"/>
            <a:ext cx="2057400" cy="1051560"/>
          </a:xfrm>
          <a:prstGeom prst="roundRect">
            <a:avLst>
              <a:gd name="adj" fmla="val 10435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5212080" y="5321808"/>
            <a:ext cx="548640" cy="54864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20" name="Image 4" descr="FiGri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2781" y="5442509"/>
            <a:ext cx="307238" cy="307238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5852160" y="507492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A1D"/>
                </a:solidFill>
              </a:rPr>
              <a:t>QR code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7269480" y="5074920"/>
            <a:ext cx="2057400" cy="1051560"/>
          </a:xfrm>
          <a:prstGeom prst="roundRect">
            <a:avLst>
              <a:gd name="adj" fmla="val 10435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7452360" y="5321808"/>
            <a:ext cx="548640" cy="54864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24" name="Image 5" descr="FiDatabas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3061" y="5442509"/>
            <a:ext cx="307238" cy="307238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8092440" y="507492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A1D"/>
                </a:solidFill>
              </a:rPr>
              <a:t>Registrar profile</a:t>
            </a:r>
            <a:endParaRPr lang="en-US" sz="1400" dirty="0"/>
          </a:p>
        </p:txBody>
      </p:sp>
      <p:sp>
        <p:nvSpPr>
          <p:cNvPr id="26" name="Shape 17"/>
          <p:cNvSpPr/>
          <p:nvPr/>
        </p:nvSpPr>
        <p:spPr>
          <a:xfrm>
            <a:off x="9509760" y="5074920"/>
            <a:ext cx="2057400" cy="1051560"/>
          </a:xfrm>
          <a:prstGeom prst="roundRect">
            <a:avLst>
              <a:gd name="adj" fmla="val 10435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18"/>
          <p:cNvSpPr/>
          <p:nvPr/>
        </p:nvSpPr>
        <p:spPr>
          <a:xfrm>
            <a:off x="9692640" y="5321808"/>
            <a:ext cx="548640" cy="54864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28" name="Image 6" descr="FiUploadCloud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3341" y="5442509"/>
            <a:ext cx="307238" cy="307238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10332720" y="507492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A1D"/>
                </a:solidFill>
              </a:rPr>
              <a:t>Agency bulk API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as a platform, not a prototype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45920"/>
            <a:ext cx="594360" cy="59436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6" name="Image 0" descr="FiLay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776679"/>
            <a:ext cx="332842" cy="33284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08760" y="16459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Multi-university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37744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Universities → programs → courses → topics, shared many-to-many with per-university switches.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297680" y="141732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526280" y="1645920"/>
            <a:ext cx="594360" cy="59436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11" name="Image 1" descr="FiRepe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039" y="1776679"/>
            <a:ext cx="332842" cy="33284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57800" y="16459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University exchange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4526280" y="237744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Source and target both see a transfer, request documents and remind each other.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8046720" y="141732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8275320" y="1645920"/>
            <a:ext cx="594360" cy="59436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16" name="Image 2" descr="FiBarChart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6079" y="1776679"/>
            <a:ext cx="332842" cy="33284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006840" y="16459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Dashboards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8275320" y="237744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Analytics for every role; live updates; mobile-ready with a PWA manifest.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548640" y="379476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777240" y="4023360"/>
            <a:ext cx="594360" cy="59436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21" name="Image 3" descr="FiMai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9" y="4154119"/>
            <a:ext cx="332842" cy="33284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508760" y="40233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Branded emails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777240" y="47548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Every template editable by the super admin; custom templates too.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4297680" y="379476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526280" y="4023360"/>
            <a:ext cx="594360" cy="59436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26" name="Image 4" descr="FiArchiv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039" y="4154119"/>
            <a:ext cx="332842" cy="33284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257800" y="40233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documents</a:t>
            </a:r>
            <a:endParaRPr lang="en-US" sz="1800" dirty="0"/>
          </a:p>
        </p:txBody>
      </p:sp>
      <p:sp>
        <p:nvSpPr>
          <p:cNvPr id="28" name="Text 20"/>
          <p:cNvSpPr txBox="1"/>
          <p:nvPr/>
        </p:nvSpPr>
        <p:spPr>
          <a:xfrm>
            <a:off x="4526280" y="47548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Azure Blob, one folder per student; images compressed on upload.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8046720" y="379476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8275320" y="4023360"/>
            <a:ext cx="594360" cy="59436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31" name="Image 5" descr="FiPlayCirc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6079" y="4154119"/>
            <a:ext cx="332842" cy="332842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9006840" y="40233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Repeatable demo</a:t>
            </a:r>
            <a:endParaRPr lang="en-US" sz="1800" dirty="0"/>
          </a:p>
        </p:txBody>
      </p:sp>
      <p:sp>
        <p:nvSpPr>
          <p:cNvPr id="33" name="Text 24"/>
          <p:cNvSpPr txBox="1"/>
          <p:nvPr/>
        </p:nvSpPr>
        <p:spPr>
          <a:xfrm>
            <a:off x="8275320" y="47548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Reset Maya, add a second student, generate demo documents.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11064240" cy="713232"/>
          </a:xfrm>
          <a:prstGeom prst="roundRect">
            <a:avLst>
              <a:gd name="adj" fmla="val 15385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31520" y="1481328"/>
            <a:ext cx="493776" cy="493776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6" name="Image 0" descr="FiMoni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151" y="1589959"/>
            <a:ext cx="276515" cy="27651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17320" y="137160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0816"/>
                </a:solidFill>
              </a:rPr>
              <a:t>UI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3657600" y="137160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React 19 · Vite · Tailwind v4 · TanStack Query · framer-motion · recharts · zustand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48640" y="2194560"/>
            <a:ext cx="1106424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31520" y="2304288"/>
            <a:ext cx="493776" cy="493776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11" name="Image 1" descr="FiServ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151" y="2412919"/>
            <a:ext cx="276515" cy="27651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17320" y="219456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0816"/>
                </a:solidFill>
              </a:rPr>
              <a:t>API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3657600" y="219456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NestJS 10 · TypeScript · JWT (passport) · argon2 · Swagger · helmet · throttler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548640" y="3017520"/>
            <a:ext cx="11064240" cy="713232"/>
          </a:xfrm>
          <a:prstGeom prst="roundRect">
            <a:avLst>
              <a:gd name="adj" fmla="val 15385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31520" y="3127248"/>
            <a:ext cx="493776" cy="493776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16" name="Image 2" descr="FiDatab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151" y="3235879"/>
            <a:ext cx="276515" cy="27651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17320" y="301752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0816"/>
                </a:solidFill>
              </a:rPr>
              <a:t>Database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3657600" y="301752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Azure SQL / SQL Server via mssql + tedious · sp_TriageCourse · sp_RecordDecision · 33 idempotent migrations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548640" y="3840480"/>
            <a:ext cx="1106424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731520" y="3950208"/>
            <a:ext cx="493776" cy="493776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21" name="Image 3" descr="FiArchiv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151" y="4058839"/>
            <a:ext cx="276515" cy="27651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17320" y="384048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0816"/>
                </a:solidFill>
              </a:rPr>
              <a:t>Storage and email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3657600" y="384048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Azure Blob Storage · Resend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548640" y="4663440"/>
            <a:ext cx="11064240" cy="713232"/>
          </a:xfrm>
          <a:prstGeom prst="roundRect">
            <a:avLst>
              <a:gd name="adj" fmla="val 15385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731520" y="4773168"/>
            <a:ext cx="493776" cy="493776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26" name="Image 4" descr="FiCpu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151" y="4881799"/>
            <a:ext cx="276515" cy="27651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417320" y="466344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0816"/>
                </a:solidFill>
              </a:rPr>
              <a:t>AI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3657600" y="466344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Anthropic Claude (direct API) · Azure OpenAI · custom OpenAI-compatible · Azure Document Intelligence · zero-token rules fallback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548640" y="5486400"/>
            <a:ext cx="1106424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731520" y="5596128"/>
            <a:ext cx="493776" cy="493776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31" name="Image 5" descr="FiClou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151" y="5704759"/>
            <a:ext cx="276515" cy="276515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1417320" y="548640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0816"/>
                </a:solidFill>
              </a:rPr>
              <a:t>Hosting and CI/CD</a:t>
            </a:r>
            <a:endParaRPr lang="en-US" sz="1600" dirty="0"/>
          </a:p>
        </p:txBody>
      </p:sp>
      <p:sp>
        <p:nvSpPr>
          <p:cNvPr id="33" name="Text 24"/>
          <p:cNvSpPr txBox="1"/>
          <p:nvPr/>
        </p:nvSpPr>
        <p:spPr>
          <a:xfrm>
            <a:off x="3657600" y="548640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Azure App Service (single Node app serving API + SPA) · GitHub Actions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Scorecard: the brief and its rules vs. the code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47548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1"/>
          <p:cNvSpPr/>
          <p:nvPr/>
        </p:nvSpPr>
        <p:spPr>
          <a:xfrm>
            <a:off x="5669280" y="1463040"/>
            <a:ext cx="5943600" cy="1280160"/>
          </a:xfrm>
          <a:prstGeom prst="roundRect">
            <a:avLst>
              <a:gd name="adj" fmla="val 8571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2"/>
          <p:cNvSpPr/>
          <p:nvPr/>
        </p:nvSpPr>
        <p:spPr>
          <a:xfrm>
            <a:off x="5897880" y="1920240"/>
            <a:ext cx="365760" cy="365760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446520" y="14630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3261E"/>
                </a:solidFill>
              </a:rPr>
              <a:t>Open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No requirement is left open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5669280" y="2926080"/>
            <a:ext cx="5943600" cy="1280160"/>
          </a:xfrm>
          <a:prstGeom prst="roundRect">
            <a:avLst>
              <a:gd name="adj" fmla="val 8571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897880" y="3383280"/>
            <a:ext cx="365760" cy="365760"/>
          </a:xfrm>
          <a:prstGeom prst="ellipse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46520" y="29260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8A1B"/>
                </a:solidFill>
              </a:rPr>
              <a:t>Partial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Faculty screen for one external course → several BU courses (API ready) · 5-credit lab rule (BU to answer)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5669280" y="4389120"/>
            <a:ext cx="5943600" cy="1280160"/>
          </a:xfrm>
          <a:prstGeom prst="roundRect">
            <a:avLst>
              <a:gd name="adj" fmla="val 8571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897880" y="4846320"/>
            <a:ext cx="365760" cy="365760"/>
          </a:xfrm>
          <a:prstGeom prst="ellipse">
            <a:avLst/>
          </a:prstGeom>
          <a:solidFill>
            <a:srgbClr val="2F7D5B"/>
          </a:solidFill>
          <a:ln w="12700">
            <a:solidFill>
              <a:srgbClr val="2F7D5B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446520" y="438912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7D5B"/>
                </a:solidFill>
              </a:rPr>
              <a:t>Built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Lanes, quarter 2/3, grades, caps, Hub, appeals, workflow, learning loop, degree progress, side-by-side, programme and exam rules, one-year deadline, backtest, repeatable demo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team behind TransferHub</a:t>
            </a:r>
            <a:endParaRPr lang="en-US" sz="3000" dirty="0"/>
          </a:p>
        </p:txBody>
      </p:sp>
      <p:sp>
        <p:nvSpPr>
          <p:cNvPr id="4" name="Team card Raghuram Raichooti"/>
          <p:cNvSpPr/>
          <p:nvPr/>
        </p:nvSpPr>
        <p:spPr>
          <a:xfrm>
            <a:off x="548640" y="1417320"/>
            <a:ext cx="2103120" cy="3794760"/>
          </a:xfrm>
          <a:prstGeom prst="roundRect">
            <a:avLst>
              <a:gd name="adj" fmla="val 5217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5" name="Image 0" descr="Photo of Raghuram Raichoot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1463040" cy="14630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68680" y="1691640"/>
            <a:ext cx="1463040" cy="1463040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770816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40080" y="3291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Raghuram Raichooti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777240" y="402336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40233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Microsoft practice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4462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A5D"/>
                </a:solidFill>
              </a:rPr>
              <a:t>Emp. ID 3869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47823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1A1D"/>
                </a:solidFill>
              </a:rPr>
              <a:t>rraichooti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B1A1D"/>
                </a:solidFill>
              </a:rPr>
              <a:t>@evoketechnologies.com</a:t>
            </a:r>
            <a:endParaRPr lang="en-US" sz="1100" dirty="0"/>
          </a:p>
        </p:txBody>
      </p:sp>
      <p:sp>
        <p:nvSpPr>
          <p:cNvPr id="12" name="Team card Sankara Varaprasad"/>
          <p:cNvSpPr/>
          <p:nvPr/>
        </p:nvSpPr>
        <p:spPr>
          <a:xfrm>
            <a:off x="2788920" y="1417320"/>
            <a:ext cx="2103120" cy="3794760"/>
          </a:xfrm>
          <a:prstGeom prst="roundRect">
            <a:avLst>
              <a:gd name="adj" fmla="val 5217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3" name="Image 1" descr="Photo of Sankara Varaprasa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691640"/>
            <a:ext cx="1463040" cy="14630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108960" y="1691640"/>
            <a:ext cx="1463040" cy="1463040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770816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2880360" y="3291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Sankara Varaprasad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3017520" y="402336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3017520" y="40233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040B"/>
                </a:solidFill>
              </a:rPr>
              <a:t>UI practice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2880360" y="4462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A5D"/>
                </a:solidFill>
              </a:rPr>
              <a:t>Emp. ID 801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2880360" y="47823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1A1D"/>
                </a:solidFill>
              </a:rPr>
              <a:t>skvenkobarao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B1A1D"/>
                </a:solidFill>
              </a:rPr>
              <a:t>@evoketechnologies.com</a:t>
            </a:r>
            <a:endParaRPr lang="en-US" sz="1100" dirty="0"/>
          </a:p>
        </p:txBody>
      </p:sp>
      <p:sp>
        <p:nvSpPr>
          <p:cNvPr id="20" name="Team card Swetha Katkkoori"/>
          <p:cNvSpPr/>
          <p:nvPr/>
        </p:nvSpPr>
        <p:spPr>
          <a:xfrm>
            <a:off x="5029200" y="1417320"/>
            <a:ext cx="2103120" cy="3794760"/>
          </a:xfrm>
          <a:prstGeom prst="roundRect">
            <a:avLst>
              <a:gd name="adj" fmla="val 5217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21" name="Image 2" descr="Photo of Swetha Katkkoor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691640"/>
            <a:ext cx="1463040" cy="146304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349240" y="1691640"/>
            <a:ext cx="1463040" cy="1463040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770816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5120640" y="3291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Swetha Katkkoori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5257800" y="402336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5257800" y="40233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Microsoft practice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5120640" y="4462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A5D"/>
                </a:solidFill>
              </a:rPr>
              <a:t>Emp. ID 4126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5120640" y="47823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1A1D"/>
                </a:solidFill>
              </a:rPr>
              <a:t>skatkkoori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B1A1D"/>
                </a:solidFill>
              </a:rPr>
              <a:t>@evoketechnologies.com</a:t>
            </a:r>
            <a:endParaRPr lang="en-US" sz="1100" dirty="0"/>
          </a:p>
        </p:txBody>
      </p:sp>
      <p:sp>
        <p:nvSpPr>
          <p:cNvPr id="28" name="Team card Harshil Shah Parimal"/>
          <p:cNvSpPr/>
          <p:nvPr/>
        </p:nvSpPr>
        <p:spPr>
          <a:xfrm>
            <a:off x="7269480" y="1417320"/>
            <a:ext cx="2103120" cy="3794760"/>
          </a:xfrm>
          <a:prstGeom prst="roundRect">
            <a:avLst>
              <a:gd name="adj" fmla="val 5217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29" name="Image 3" descr="Photo of Harshil Shah Parim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691640"/>
            <a:ext cx="1463040" cy="146304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7589520" y="1691640"/>
            <a:ext cx="1463040" cy="1463040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770816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7360920" y="3291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Harshil Shah Parimal</a:t>
            </a:r>
            <a:endParaRPr lang="en-US" sz="1700" dirty="0"/>
          </a:p>
        </p:txBody>
      </p:sp>
      <p:sp>
        <p:nvSpPr>
          <p:cNvPr id="32" name="Shape 25"/>
          <p:cNvSpPr/>
          <p:nvPr/>
        </p:nvSpPr>
        <p:spPr>
          <a:xfrm>
            <a:off x="7498080" y="402336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7498080" y="40233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040B"/>
                </a:solidFill>
              </a:rPr>
              <a:t>UI practice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7360920" y="4462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A5D"/>
                </a:solidFill>
              </a:rPr>
              <a:t>Emp. ID 2458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7360920" y="47823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1A1D"/>
                </a:solidFill>
              </a:rPr>
              <a:t>hparimal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B1A1D"/>
                </a:solidFill>
              </a:rPr>
              <a:t>@evoketechnologies.com</a:t>
            </a:r>
            <a:endParaRPr lang="en-US" sz="1100" dirty="0"/>
          </a:p>
        </p:txBody>
      </p:sp>
      <p:sp>
        <p:nvSpPr>
          <p:cNvPr id="36" name="Team card Shravani Bollu"/>
          <p:cNvSpPr/>
          <p:nvPr/>
        </p:nvSpPr>
        <p:spPr>
          <a:xfrm>
            <a:off x="9509760" y="1417320"/>
            <a:ext cx="2103120" cy="3794760"/>
          </a:xfrm>
          <a:prstGeom prst="roundRect">
            <a:avLst>
              <a:gd name="adj" fmla="val 5217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37" name="Image 4" descr="Photo of Shravani Bollu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0" y="1691640"/>
            <a:ext cx="1463040" cy="1463040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9829800" y="1691640"/>
            <a:ext cx="1463040" cy="1463040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770816"/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9601200" y="3291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Shravani Bollu</a:t>
            </a:r>
            <a:endParaRPr lang="en-US" sz="1700" dirty="0"/>
          </a:p>
        </p:txBody>
      </p:sp>
      <p:sp>
        <p:nvSpPr>
          <p:cNvPr id="40" name="Shape 32"/>
          <p:cNvSpPr/>
          <p:nvPr/>
        </p:nvSpPr>
        <p:spPr>
          <a:xfrm>
            <a:off x="9738360" y="402336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41" name="Text 33"/>
          <p:cNvSpPr txBox="1"/>
          <p:nvPr/>
        </p:nvSpPr>
        <p:spPr>
          <a:xfrm>
            <a:off x="9738360" y="40233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040B"/>
                </a:solidFill>
              </a:rPr>
              <a:t>UI practice</a:t>
            </a:r>
            <a:endParaRPr lang="en-US" sz="1200" dirty="0"/>
          </a:p>
        </p:txBody>
      </p:sp>
      <p:sp>
        <p:nvSpPr>
          <p:cNvPr id="42" name="Text 34"/>
          <p:cNvSpPr txBox="1"/>
          <p:nvPr/>
        </p:nvSpPr>
        <p:spPr>
          <a:xfrm>
            <a:off x="9601200" y="4462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A5D"/>
                </a:solidFill>
              </a:rPr>
              <a:t>Emp. ID 2473</a:t>
            </a:r>
            <a:endParaRPr lang="en-US" sz="1200" dirty="0"/>
          </a:p>
        </p:txBody>
      </p:sp>
      <p:sp>
        <p:nvSpPr>
          <p:cNvPr id="43" name="Text 35"/>
          <p:cNvSpPr txBox="1"/>
          <p:nvPr/>
        </p:nvSpPr>
        <p:spPr>
          <a:xfrm>
            <a:off x="9601200" y="47823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1A1D"/>
                </a:solidFill>
              </a:rPr>
              <a:t>sbollu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B1A1D"/>
                </a:solidFill>
              </a:rPr>
              <a:t>@evoketechnologies.com</a:t>
            </a:r>
            <a:endParaRPr lang="en-US" sz="1100" dirty="0"/>
          </a:p>
        </p:txBody>
      </p:sp>
      <p:pic>
        <p:nvPicPr>
          <p:cNvPr id="44" name="Image 5" descr="Clopay CodeCrafters log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669280"/>
            <a:ext cx="1030310" cy="685800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1853270" y="56692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A1D"/>
                </a:solidFill>
              </a:rPr>
              <a:t>Clopay CodeCrafters  ·  Evoke FDE AI Hackathon 5.0  ·  Problem 1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have not proven yet, and what comes next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proven yet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2024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1A1D"/>
                </a:solidFill>
              </a:rPr>
              <a:t>No Anthropic key yet: AI matching and reading are built but unverified live; the rules fallback carries the demo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1A1D"/>
                </a:solidFill>
              </a:rPr>
              <a:t>No BU baseline for evaluator minutes or turnaround, so time saved is not yet quantified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1A1D"/>
                </a:solidFill>
              </a:rPr>
              <a:t>No API integration tests; coverage is unit scripts, an HTTP smoke suite and SQL contract tests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1A1D"/>
                </a:solidFill>
              </a:rPr>
              <a:t>Exam thresholds and quarter rounding follow defaults; BU to confirm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13716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309360" y="1965960"/>
            <a:ext cx="5303520" cy="676656"/>
          </a:xfrm>
          <a:prstGeom prst="roundRect">
            <a:avLst>
              <a:gd name="adj" fmla="val 16216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446520" y="196596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995160" y="1965960"/>
            <a:ext cx="4480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Get the Anthropic key; re-run the same backtest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309360" y="2770632"/>
            <a:ext cx="5303520" cy="676656"/>
          </a:xfrm>
          <a:prstGeom prst="roundRect">
            <a:avLst>
              <a:gd name="adj" fmla="val 16216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446520" y="2770632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6995160" y="2770632"/>
            <a:ext cx="4480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BU answers: 5-credit lab rule, exam thresholds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309360" y="3575304"/>
            <a:ext cx="5303520" cy="676656"/>
          </a:xfrm>
          <a:prstGeom prst="roundRect">
            <a:avLst>
              <a:gd name="adj" fmla="val 16216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446520" y="3575304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6995160" y="3575304"/>
            <a:ext cx="4480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Faculty screen for one-to-many mappings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309360" y="4379976"/>
            <a:ext cx="5303520" cy="676656"/>
          </a:xfrm>
          <a:prstGeom prst="roundRect">
            <a:avLst>
              <a:gd name="adj" fmla="val 16216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446520" y="4379976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6995160" y="4379976"/>
            <a:ext cx="4480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Measure evaluator minutes against a BU baseline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309360" y="5184648"/>
            <a:ext cx="5303520" cy="676656"/>
          </a:xfrm>
          <a:prstGeom prst="roundRect">
            <a:avLst>
              <a:gd name="adj" fmla="val 16216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6446520" y="5184648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6995160" y="5184648"/>
            <a:ext cx="4480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SIS connector; turn demo login off for launch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64008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for evaluators. Clearer for students. The department still decides.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731520" y="2514600"/>
            <a:ext cx="731520" cy="73152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5" name="Image 0" descr="FiGithu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54" y="2675534"/>
            <a:ext cx="409651" cy="40965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691640" y="2514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C9CD"/>
                </a:solidFill>
              </a:rPr>
              <a:t>Source code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1691640" y="2843784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u="sng" dirty="0">
                <a:solidFill>
                  <a:srgbClr val="FFFFFF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https://github.com/Evoke-Hackathon-2026/Clopay-CodeCrafters</a:t>
            </a:r>
            <a:endParaRPr lang="en-US" sz="1900" dirty="0"/>
          </a:p>
        </p:txBody>
      </p:sp>
      <p:sp>
        <p:nvSpPr>
          <p:cNvPr id="8" name="Shape 4"/>
          <p:cNvSpPr/>
          <p:nvPr/>
        </p:nvSpPr>
        <p:spPr>
          <a:xfrm>
            <a:off x="731520" y="3566160"/>
            <a:ext cx="731520" cy="73152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9" name="Image 1" descr="FiGlob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" y="3727094"/>
            <a:ext cx="409651" cy="409651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691640" y="3566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C9CD"/>
                </a:solidFill>
              </a:rPr>
              <a:t>Live site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1691640" y="3895344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u="sng" dirty="0">
                <a:solidFill>
                  <a:srgbClr val="FFFFFF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https://transferhub.wcubeprojects.in/</a:t>
            </a:r>
            <a:endParaRPr lang="en-US" sz="1900" dirty="0"/>
          </a:p>
        </p:txBody>
      </p:sp>
      <p:sp>
        <p:nvSpPr>
          <p:cNvPr id="12" name="Shape 7"/>
          <p:cNvSpPr/>
          <p:nvPr/>
        </p:nvSpPr>
        <p:spPr>
          <a:xfrm>
            <a:off x="731520" y="4800600"/>
            <a:ext cx="402336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2" descr="TransferHub log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880" y="4864608"/>
            <a:ext cx="2834640" cy="1417320"/>
          </a:xfrm>
          <a:prstGeom prst="rect">
            <a:avLst/>
          </a:prstGeom>
        </p:spPr>
      </p:pic>
      <p:pic>
        <p:nvPicPr>
          <p:cNvPr id="14" name="Image 3" descr="Clopay CodeCrafters log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2663" y="2377440"/>
            <a:ext cx="3020217" cy="2011680"/>
          </a:xfrm>
          <a:prstGeom prst="rect">
            <a:avLst/>
          </a:prstGeom>
        </p:spPr>
      </p:pic>
      <p:pic>
        <p:nvPicPr>
          <p:cNvPr id="15" name="Image 4" descr="Raghuram Raichooti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9240" y="5120640"/>
            <a:ext cx="777240" cy="777240"/>
          </a:xfrm>
          <a:prstGeom prst="rect">
            <a:avLst/>
          </a:prstGeom>
        </p:spPr>
      </p:pic>
      <p:pic>
        <p:nvPicPr>
          <p:cNvPr id="16" name="Image 5" descr="Sankara Varaprasad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5120640"/>
            <a:ext cx="777240" cy="777240"/>
          </a:xfrm>
          <a:prstGeom prst="rect">
            <a:avLst/>
          </a:prstGeom>
        </p:spPr>
      </p:pic>
      <p:pic>
        <p:nvPicPr>
          <p:cNvPr id="17" name="Image 6" descr="Swetha Katkkoori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8040" y="5120640"/>
            <a:ext cx="777240" cy="777240"/>
          </a:xfrm>
          <a:prstGeom prst="rect">
            <a:avLst/>
          </a:prstGeom>
        </p:spPr>
      </p:pic>
      <p:pic>
        <p:nvPicPr>
          <p:cNvPr id="18" name="Image 7" descr="Harshil Shah Parimal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2440" y="5120640"/>
            <a:ext cx="777240" cy="777240"/>
          </a:xfrm>
          <a:prstGeom prst="rect">
            <a:avLst/>
          </a:prstGeom>
        </p:spPr>
      </p:pic>
      <p:pic>
        <p:nvPicPr>
          <p:cNvPr id="19" name="Image 8" descr="Shravani Bollu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06840" y="5120640"/>
            <a:ext cx="777240" cy="777240"/>
          </a:xfrm>
          <a:prstGeom prst="rect">
            <a:avLst/>
          </a:prstGeom>
        </p:spPr>
      </p:pic>
      <p:sp>
        <p:nvSpPr>
          <p:cNvPr id="20" name="Text 8"/>
          <p:cNvSpPr txBox="1"/>
          <p:nvPr/>
        </p:nvSpPr>
        <p:spPr>
          <a:xfrm>
            <a:off x="5349240" y="5943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</a:rPr>
              <a:t>Clopay CodeCrafters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ansferHub">
  <a:themeElements>
    <a:clrScheme name="TransferHub">
      <a:dk1>
        <a:srgbClr val="2B1A1D"/>
      </a:dk1>
      <a:lt1>
        <a:srgbClr val="FFFFFF"/>
      </a:lt1>
      <a:dk2>
        <a:srgbClr val="3A040B"/>
      </a:dk2>
      <a:lt2>
        <a:srgbClr val="FDF2F3"/>
      </a:lt2>
      <a:accent1>
        <a:srgbClr val="770816"/>
      </a:accent1>
      <a:accent2>
        <a:srgbClr val="D9A441"/>
      </a:accent2>
      <a:accent3>
        <a:srgbClr val="CF3A53"/>
      </a:accent3>
      <a:accent4>
        <a:srgbClr val="2F7D5B"/>
      </a:accent4>
      <a:accent5>
        <a:srgbClr val="5B6B8C"/>
      </a:accent5>
      <a:accent6>
        <a:srgbClr val="E8C9CD"/>
      </a:accent6>
      <a:hlink>
        <a:srgbClr val="770816"/>
      </a:hlink>
      <a:folHlink>
        <a:srgbClr val="5C0712"/>
      </a:folHlink>
    </a:clrScheme>
    <a:fontScheme name="TransferHub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Clopay CodeCrafters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TransferHub - Smarter Transfer Credit Evaluation</dc:title>
  <dc:subject>PptxGenJS Presentation</dc:subject>
  <dc:creator>Clopay CodeCrafters</dc:creator>
  <cp:lastModifiedBy>Clopay CodeCrafters</cp:lastModifiedBy>
  <cp:revision>1</cp:revision>
  <dcterms:created xsi:type="dcterms:W3CDTF">2026-10-29T18:01:09Z</dcterms:created>
  <dcterms:modified xsi:type="dcterms:W3CDTF">2026-10-29T18:01:09Z</dcterms:modified>
</cp:coreProperties>
</file>