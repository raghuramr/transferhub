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rts/chart1.xml" ContentType="application/vnd.openxmlformats-officedocument.drawingml.chart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Status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F7D5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01F3-4EA9-8CA9-839332C46831}"/>
              </c:ext>
            </c:extLst>
          </c:dPt>
          <c:dPt>
            <c:idx val="1"/>
            <c:bubble3D val="0"/>
            <c:spPr>
              <a:solidFill>
                <a:srgbClr val="C98A1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1F3-4EA9-8CA9-839332C46831}"/>
              </c:ext>
            </c:extLst>
          </c:dPt>
          <c:dPt>
            <c:idx val="2"/>
            <c:bubble3D val="0"/>
            <c:spPr>
              <a:solidFill>
                <a:srgbClr val="B3261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1F3-4EA9-8CA9-839332C46831}"/>
              </c:ext>
            </c:extLst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6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01F3-4EA9-8CA9-839332C46831}"/>
                </c:ext>
              </c:extLst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6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01F3-4EA9-8CA9-839332C46831}"/>
                </c:ext>
              </c:extLst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6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01F3-4EA9-8CA9-839332C46831}"/>
                </c:ext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Sheet1!$A$2:$A$4</c:f>
              <c:strCache>
                <c:ptCount val="3"/>
                <c:pt idx="0">
                  <c:v>Built</c:v>
                </c:pt>
                <c:pt idx="1">
                  <c:v>Partial</c:v>
                </c:pt>
                <c:pt idx="2">
                  <c:v>Open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</c:v>
                </c:pt>
                <c:pt idx="1">
                  <c:v>3</c:v>
                </c:pt>
                <c:pt idx="2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01F3-4EA9-8CA9-839332C4683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6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400">
              <a:solidFill>
                <a:srgbClr val="2B1A1D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217646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one-line promise: faster for evaluators, clearer for students, and the department still decides.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takes 800+ transfers a year. Courses without an equivalency show 0 units, students chase syllabi, evaluators compare by hand.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tests in the brief. Each has a concrete feature you can click.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left to right. Rules first, then known equivalencies, then AI or built-in rules, then the people.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Maya Rivera moves from Bay State Community College. Three known, two maybe, one quarter-system course converted 4 x 2/3 = 2.66.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Request review: timeline, reviewer brief, ranked suggestions with rationale, one-click accept above a threshold, bulk approve in the queue.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Per-course lanes, timeline, internal vs student notes, nudge reminders, dashboards.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 the part nobody asked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API key yet, budget exhausted, or an outage: the built-in rules engine reads documents and suggests matches. One super-admin switch.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Smart upload classifies and extracts. Intake channels all end at a confirm step before an account exists.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Policy engine mirrors BU's published rules. Workflow engine is configured per university.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Multi-university master data, permissions matrix, partner API, dashboards, Azure deployment.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Shortlist is lexical and free. Cache means the same external course costs one call ever.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compared every rule and ask in the design docs with the code. 17 built, 3 partial, 2 open. Full table in _designs/GAP_ANALYSIS.md.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honest: no live Claude key, no BU baseline numbers. Plan to close the gaps.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promise and invite the live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Relationship Id="rId9" Type="http://schemas.openxmlformats.org/officeDocument/2006/relationships/image" Target="../media/image2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A04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640080" y="548640"/>
            <a:ext cx="3291840" cy="173736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TransferHub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48640"/>
            <a:ext cx="3291840" cy="1728216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40080" y="24688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Smarter Transfer Credit Evaluation</a:t>
            </a:r>
            <a:endParaRPr lang="en-US" sz="4800" dirty="0"/>
          </a:p>
        </p:txBody>
      </p:sp>
      <p:sp>
        <p:nvSpPr>
          <p:cNvPr id="6" name="Text 2"/>
          <p:cNvSpPr txBox="1"/>
          <p:nvPr/>
        </p:nvSpPr>
        <p:spPr>
          <a:xfrm>
            <a:off x="640080" y="347472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E8C9CD"/>
                </a:solidFill>
              </a:rPr>
              <a:t>From zero units and weeks of waiting to a clear status for every course, on day one.</a:t>
            </a:r>
            <a:endParaRPr lang="en-US" sz="2200" dirty="0"/>
          </a:p>
        </p:txBody>
      </p:sp>
      <p:sp>
        <p:nvSpPr>
          <p:cNvPr id="7" name="Text 3"/>
          <p:cNvSpPr txBox="1"/>
          <p:nvPr/>
        </p:nvSpPr>
        <p:spPr>
          <a:xfrm>
            <a:off x="640080" y="53949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9A441"/>
                </a:solidFill>
              </a:rPr>
              <a:t>Clopay Code Crafters</a:t>
            </a:r>
            <a:r>
              <a:rPr lang="en-US" sz="1800" dirty="0">
                <a:solidFill>
                  <a:srgbClr val="FFFFFF"/>
                </a:solidFill>
              </a:rPr>
              <a:t>   ·   FDE AI Hackathon 5.0   ·   Problem 1 · Boston University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course, every student, one syllabus at a time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5A5D"/>
                </a:solidFill>
              </a:rPr>
              <a:t>TransferHub  ·  Clopay Code Crafters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606040" cy="2011680"/>
          </a:xfrm>
          <a:prstGeom prst="roundRect">
            <a:avLst>
              <a:gd name="adj" fmla="val 5455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 txBox="1"/>
          <p:nvPr/>
        </p:nvSpPr>
        <p:spPr>
          <a:xfrm>
            <a:off x="548640" y="17373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800+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69748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B1A1D"/>
                </a:solidFill>
              </a:rPr>
              <a:t>transfer students a year at BU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364992" y="1554480"/>
            <a:ext cx="2606040" cy="2011680"/>
          </a:xfrm>
          <a:prstGeom prst="roundRect">
            <a:avLst>
              <a:gd name="adj" fmla="val 5455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 txBox="1"/>
          <p:nvPr/>
        </p:nvSpPr>
        <p:spPr>
          <a:xfrm>
            <a:off x="3364992" y="17373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units</a:t>
            </a:r>
            <a:endParaRPr lang="en-US" sz="4400" dirty="0"/>
          </a:p>
        </p:txBody>
      </p:sp>
      <p:sp>
        <p:nvSpPr>
          <p:cNvPr id="10" name="Text 7"/>
          <p:cNvSpPr txBox="1"/>
          <p:nvPr/>
        </p:nvSpPr>
        <p:spPr>
          <a:xfrm>
            <a:off x="3547872" y="269748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B1A1D"/>
                </a:solidFill>
              </a:rPr>
              <a:t>shown for every pending course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181344" y="1554480"/>
            <a:ext cx="2606040" cy="2011680"/>
          </a:xfrm>
          <a:prstGeom prst="roundRect">
            <a:avLst>
              <a:gd name="adj" fmla="val 5455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 txBox="1"/>
          <p:nvPr/>
        </p:nvSpPr>
        <p:spPr>
          <a:xfrm>
            <a:off x="6181344" y="17373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by 1</a:t>
            </a:r>
            <a:endParaRPr lang="en-US" sz="4400" dirty="0"/>
          </a:p>
        </p:txBody>
      </p:sp>
      <p:sp>
        <p:nvSpPr>
          <p:cNvPr id="13" name="Text 10"/>
          <p:cNvSpPr txBox="1"/>
          <p:nvPr/>
        </p:nvSpPr>
        <p:spPr>
          <a:xfrm>
            <a:off x="6364224" y="269748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B1A1D"/>
                </a:solidFill>
              </a:rPr>
              <a:t>manual syllabus comparisons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8997696" y="1554480"/>
            <a:ext cx="2606040" cy="2011680"/>
          </a:xfrm>
          <a:prstGeom prst="roundRect">
            <a:avLst>
              <a:gd name="adj" fmla="val 5455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 txBox="1"/>
          <p:nvPr/>
        </p:nvSpPr>
        <p:spPr>
          <a:xfrm>
            <a:off x="8997696" y="17373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 mo</a:t>
            </a:r>
            <a:endParaRPr lang="en-US" sz="4400" dirty="0"/>
          </a:p>
        </p:txBody>
      </p:sp>
      <p:sp>
        <p:nvSpPr>
          <p:cNvPr id="16" name="Text 13"/>
          <p:cNvSpPr txBox="1"/>
          <p:nvPr/>
        </p:nvSpPr>
        <p:spPr>
          <a:xfrm>
            <a:off x="9180576" y="269748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B1A1D"/>
                </a:solidFill>
              </a:rPr>
              <a:t>to settle all credit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548640" y="4023360"/>
            <a:ext cx="640080" cy="64008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8" name="Image 0" descr="FiUs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458" y="4164178"/>
            <a:ext cx="358445" cy="358445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1325880" y="402336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B1A1D"/>
                </a:solidFill>
              </a:rPr>
              <a:t>Students</a:t>
            </a:r>
            <a:endParaRPr lang="en-US" sz="2000" dirty="0"/>
          </a:p>
        </p:txBody>
      </p:sp>
      <p:sp>
        <p:nvSpPr>
          <p:cNvPr id="20" name="Text 16"/>
          <p:cNvSpPr txBox="1"/>
          <p:nvPr/>
        </p:nvSpPr>
        <p:spPr>
          <a:xfrm>
            <a:off x="548640" y="4800600"/>
            <a:ext cx="3474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6B5A5D"/>
                </a:solidFill>
              </a:rPr>
              <a:t>Cannot tell what is happening, chase old syllabi, and do not know how much degree progress is secure.</a:t>
            </a:r>
            <a:endParaRPr lang="en-US" sz="1500" dirty="0"/>
          </a:p>
        </p:txBody>
      </p:sp>
      <p:sp>
        <p:nvSpPr>
          <p:cNvPr id="21" name="Shape 17"/>
          <p:cNvSpPr/>
          <p:nvPr/>
        </p:nvSpPr>
        <p:spPr>
          <a:xfrm>
            <a:off x="4297680" y="4023360"/>
            <a:ext cx="640080" cy="64008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2" name="Image 1" descr="FiClipboar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8498" y="4164178"/>
            <a:ext cx="358445" cy="358445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5074920" y="402336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B1A1D"/>
                </a:solidFill>
              </a:rPr>
              <a:t>Evaluators</a:t>
            </a:r>
            <a:endParaRPr lang="en-US" sz="2000" dirty="0"/>
          </a:p>
        </p:txBody>
      </p:sp>
      <p:sp>
        <p:nvSpPr>
          <p:cNvPr id="24" name="Text 19"/>
          <p:cNvSpPr txBox="1"/>
          <p:nvPr/>
        </p:nvSpPr>
        <p:spPr>
          <a:xfrm>
            <a:off x="4297680" y="4800600"/>
            <a:ext cx="3474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6B5A5D"/>
                </a:solidFill>
              </a:rPr>
              <a:t>Compare descriptions, outcomes and credit hours manually, again for every student.</a:t>
            </a:r>
            <a:endParaRPr lang="en-US" sz="1500" dirty="0"/>
          </a:p>
        </p:txBody>
      </p:sp>
      <p:sp>
        <p:nvSpPr>
          <p:cNvPr id="25" name="Shape 20"/>
          <p:cNvSpPr/>
          <p:nvPr/>
        </p:nvSpPr>
        <p:spPr>
          <a:xfrm>
            <a:off x="8046720" y="4023360"/>
            <a:ext cx="640080" cy="64008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6" name="Image 2" descr="FiShiel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7538" y="4164178"/>
            <a:ext cx="358445" cy="358445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8823960" y="402336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B1A1D"/>
                </a:solidFill>
              </a:rPr>
              <a:t>Departments</a:t>
            </a:r>
            <a:endParaRPr lang="en-US" sz="2000" dirty="0"/>
          </a:p>
        </p:txBody>
      </p:sp>
      <p:sp>
        <p:nvSpPr>
          <p:cNvPr id="28" name="Text 22"/>
          <p:cNvSpPr txBox="1"/>
          <p:nvPr/>
        </p:nvSpPr>
        <p:spPr>
          <a:xfrm>
            <a:off x="8046720" y="4800600"/>
            <a:ext cx="3474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6B5A5D"/>
                </a:solidFill>
              </a:rPr>
              <a:t>Must keep the final say. Any tool may recommend, never decide.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they asked for, and what we built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5A5D"/>
                </a:solidFill>
              </a:rPr>
              <a:t>TransferHub  ·  Clopay Code Crafters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777240" y="1709928"/>
            <a:ext cx="603504" cy="603504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0" descr="FiZa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011" y="1842699"/>
            <a:ext cx="337962" cy="33796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45920" y="146304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Faster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4572000" y="150876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B1A1D"/>
                </a:solidFill>
              </a:rPr>
              <a:t>Every course triaged into a lane at upload. Known equivalencies apply instantly. Everything else arrives pre-ranked with reasons. Decisions feed back so the next student is instant.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548640" y="26974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777240" y="2944368"/>
            <a:ext cx="603504" cy="603504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2" name="Image 1" descr="FiEy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0011" y="3077139"/>
            <a:ext cx="337962" cy="33796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645920" y="269748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transparent</a:t>
            </a:r>
            <a:endParaRPr lang="en-US" sz="2000" dirty="0"/>
          </a:p>
        </p:txBody>
      </p:sp>
      <p:sp>
        <p:nvSpPr>
          <p:cNvPr id="14" name="Text 9"/>
          <p:cNvSpPr txBox="1"/>
          <p:nvPr/>
        </p:nvSpPr>
        <p:spPr>
          <a:xfrm>
            <a:off x="4572000" y="274320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B1A1D"/>
                </a:solidFill>
              </a:rPr>
              <a:t>Per-course status, an animated timeline, notes, reminders and role dashboards replace "0 units".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548640" y="39319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1"/>
          <p:cNvSpPr/>
          <p:nvPr/>
        </p:nvSpPr>
        <p:spPr>
          <a:xfrm>
            <a:off x="777240" y="4178808"/>
            <a:ext cx="603504" cy="603504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7" name="Image 2" descr="FiHear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0011" y="4311579"/>
            <a:ext cx="337962" cy="33796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645920" y="393192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 stressful</a:t>
            </a:r>
            <a:endParaRPr lang="en-US" sz="2000" dirty="0"/>
          </a:p>
        </p:txBody>
      </p:sp>
      <p:sp>
        <p:nvSpPr>
          <p:cNvPr id="19" name="Text 13"/>
          <p:cNvSpPr txBox="1"/>
          <p:nvPr/>
        </p:nvSpPr>
        <p:spPr>
          <a:xfrm>
            <a:off x="4572000" y="397764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B1A1D"/>
                </a:solidFill>
              </a:rPr>
              <a:t>Syllabi are asked for only where they matter. Applicants get a preview before admission. Documents are read for them.</a:t>
            </a:r>
            <a:endParaRPr lang="en-US" sz="1500" dirty="0"/>
          </a:p>
        </p:txBody>
      </p:sp>
      <p:sp>
        <p:nvSpPr>
          <p:cNvPr id="20" name="Shape 14"/>
          <p:cNvSpPr/>
          <p:nvPr/>
        </p:nvSpPr>
        <p:spPr>
          <a:xfrm>
            <a:off x="548640" y="51663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5"/>
          <p:cNvSpPr/>
          <p:nvPr/>
        </p:nvSpPr>
        <p:spPr>
          <a:xfrm>
            <a:off x="777240" y="5413248"/>
            <a:ext cx="603504" cy="603504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2" name="Image 3" descr="FiShield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0011" y="5546019"/>
            <a:ext cx="337962" cy="33796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45920" y="516636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Department decides</a:t>
            </a:r>
            <a:endParaRPr lang="en-US" sz="2000" dirty="0"/>
          </a:p>
        </p:txBody>
      </p:sp>
      <p:sp>
        <p:nvSpPr>
          <p:cNvPr id="24" name="Text 17"/>
          <p:cNvSpPr txBox="1"/>
          <p:nvPr/>
        </p:nvSpPr>
        <p:spPr>
          <a:xfrm>
            <a:off x="4572000" y="521208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B1A1D"/>
                </a:solidFill>
              </a:rPr>
              <a:t>Configurable approval stages. AI and rules never reject and never exceed 70% confidence on their own.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pipeline from upload to posting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5A5D"/>
                </a:solidFill>
              </a:rPr>
              <a:t>TransferHub  ·  Clopay Code Crafters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828800"/>
            <a:ext cx="1664208" cy="2286000"/>
          </a:xfrm>
          <a:prstGeom prst="roundRect">
            <a:avLst>
              <a:gd name="adj" fmla="val 6593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1014984" y="2011680"/>
            <a:ext cx="731520" cy="73152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0" descr="FiUploa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5918" y="2172614"/>
            <a:ext cx="409651" cy="409651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48640" y="2834640"/>
            <a:ext cx="166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770816"/>
                </a:solidFill>
              </a:rPr>
              <a:t>Upload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640080" y="3291840"/>
            <a:ext cx="14813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B5A5D"/>
                </a:solidFill>
              </a:rPr>
              <a:t>Transcript or documents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2194560" y="265176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D9A441"/>
                </a:solidFill>
              </a:rPr>
              <a:t>›</a:t>
            </a:r>
            <a:endParaRPr lang="en-US" sz="2600" dirty="0"/>
          </a:p>
        </p:txBody>
      </p:sp>
      <p:sp>
        <p:nvSpPr>
          <p:cNvPr id="11" name="Shape 7"/>
          <p:cNvSpPr/>
          <p:nvPr/>
        </p:nvSpPr>
        <p:spPr>
          <a:xfrm>
            <a:off x="2432304" y="1828800"/>
            <a:ext cx="1664208" cy="2286000"/>
          </a:xfrm>
          <a:prstGeom prst="roundRect">
            <a:avLst>
              <a:gd name="adj" fmla="val 6593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2898648" y="2011680"/>
            <a:ext cx="731520" cy="73152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Image 1" descr="FiSlider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59582" y="2172614"/>
            <a:ext cx="409651" cy="409651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432304" y="2834640"/>
            <a:ext cx="166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770816"/>
                </a:solidFill>
              </a:rPr>
              <a:t>Rules</a:t>
            </a:r>
            <a:endParaRPr lang="en-US" sz="1800" dirty="0"/>
          </a:p>
        </p:txBody>
      </p:sp>
      <p:sp>
        <p:nvSpPr>
          <p:cNvPr id="15" name="Text 10"/>
          <p:cNvSpPr txBox="1"/>
          <p:nvPr/>
        </p:nvSpPr>
        <p:spPr>
          <a:xfrm>
            <a:off x="2523744" y="3291840"/>
            <a:ext cx="14813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B5A5D"/>
                </a:solidFill>
              </a:rPr>
              <a:t>Grade, credits, age, caps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4078224" y="265176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D9A441"/>
                </a:solidFill>
              </a:rPr>
              <a:t>›</a:t>
            </a:r>
            <a:endParaRPr lang="en-US" sz="2600" dirty="0"/>
          </a:p>
        </p:txBody>
      </p:sp>
      <p:sp>
        <p:nvSpPr>
          <p:cNvPr id="17" name="Shape 12"/>
          <p:cNvSpPr/>
          <p:nvPr/>
        </p:nvSpPr>
        <p:spPr>
          <a:xfrm>
            <a:off x="4315968" y="1828800"/>
            <a:ext cx="1664208" cy="2286000"/>
          </a:xfrm>
          <a:prstGeom prst="roundRect">
            <a:avLst>
              <a:gd name="adj" fmla="val 6593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3"/>
          <p:cNvSpPr/>
          <p:nvPr/>
        </p:nvSpPr>
        <p:spPr>
          <a:xfrm>
            <a:off x="4782312" y="2011680"/>
            <a:ext cx="731520" cy="73152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9" name="Image 2" descr="FiCheckCircl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3246" y="2172614"/>
            <a:ext cx="409651" cy="409651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4315968" y="2834640"/>
            <a:ext cx="166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770816"/>
                </a:solidFill>
              </a:rPr>
              <a:t>Equivalency</a:t>
            </a:r>
            <a:endParaRPr lang="en-US" sz="1800" dirty="0"/>
          </a:p>
        </p:txBody>
      </p:sp>
      <p:sp>
        <p:nvSpPr>
          <p:cNvPr id="21" name="Text 15"/>
          <p:cNvSpPr txBox="1"/>
          <p:nvPr/>
        </p:nvSpPr>
        <p:spPr>
          <a:xfrm>
            <a:off x="4407408" y="3291840"/>
            <a:ext cx="14813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B5A5D"/>
                </a:solidFill>
              </a:rPr>
              <a:t>Known match applies</a:t>
            </a:r>
            <a:endParaRPr lang="en-US" sz="1300" dirty="0"/>
          </a:p>
        </p:txBody>
      </p:sp>
      <p:sp>
        <p:nvSpPr>
          <p:cNvPr id="22" name="Text 16"/>
          <p:cNvSpPr txBox="1"/>
          <p:nvPr/>
        </p:nvSpPr>
        <p:spPr>
          <a:xfrm>
            <a:off x="5961888" y="265176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D9A441"/>
                </a:solidFill>
              </a:rPr>
              <a:t>›</a:t>
            </a:r>
            <a:endParaRPr lang="en-US" sz="2600" dirty="0"/>
          </a:p>
        </p:txBody>
      </p:sp>
      <p:sp>
        <p:nvSpPr>
          <p:cNvPr id="23" name="Shape 17"/>
          <p:cNvSpPr/>
          <p:nvPr/>
        </p:nvSpPr>
        <p:spPr>
          <a:xfrm>
            <a:off x="6199632" y="1828800"/>
            <a:ext cx="1664208" cy="2286000"/>
          </a:xfrm>
          <a:prstGeom prst="roundRect">
            <a:avLst>
              <a:gd name="adj" fmla="val 6593"/>
            </a:avLst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18"/>
          <p:cNvSpPr/>
          <p:nvPr/>
        </p:nvSpPr>
        <p:spPr>
          <a:xfrm>
            <a:off x="6665976" y="2011680"/>
            <a:ext cx="731520" cy="731520"/>
          </a:xfrm>
          <a:prstGeom prst="ellipse">
            <a:avLst/>
          </a:prstGeom>
          <a:solidFill>
            <a:srgbClr val="D9A441"/>
          </a:solidFill>
          <a:ln w="12700">
            <a:solidFill>
              <a:srgbClr val="D9A4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5" name="Image 3" descr="FiCpu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26910" y="2172614"/>
            <a:ext cx="409651" cy="409651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6199632" y="2834640"/>
            <a:ext cx="166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Match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6291072" y="3291840"/>
            <a:ext cx="14813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E8C9CD"/>
                </a:solidFill>
              </a:rPr>
              <a:t>AI or built-in rules rank</a:t>
            </a:r>
            <a:endParaRPr lang="en-US" sz="1300" dirty="0"/>
          </a:p>
        </p:txBody>
      </p:sp>
      <p:sp>
        <p:nvSpPr>
          <p:cNvPr id="28" name="Text 21"/>
          <p:cNvSpPr txBox="1"/>
          <p:nvPr/>
        </p:nvSpPr>
        <p:spPr>
          <a:xfrm>
            <a:off x="7845552" y="265176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D9A441"/>
                </a:solidFill>
              </a:rPr>
              <a:t>›</a:t>
            </a:r>
            <a:endParaRPr lang="en-US" sz="2600" dirty="0"/>
          </a:p>
        </p:txBody>
      </p:sp>
      <p:sp>
        <p:nvSpPr>
          <p:cNvPr id="29" name="Shape 22"/>
          <p:cNvSpPr/>
          <p:nvPr/>
        </p:nvSpPr>
        <p:spPr>
          <a:xfrm>
            <a:off x="8083296" y="1828800"/>
            <a:ext cx="1664208" cy="2286000"/>
          </a:xfrm>
          <a:prstGeom prst="roundRect">
            <a:avLst>
              <a:gd name="adj" fmla="val 6593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3"/>
          <p:cNvSpPr/>
          <p:nvPr/>
        </p:nvSpPr>
        <p:spPr>
          <a:xfrm>
            <a:off x="8549640" y="2011680"/>
            <a:ext cx="731520" cy="73152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1" name="Image 4" descr="FiUsers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10574" y="2172614"/>
            <a:ext cx="409651" cy="409651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083296" y="2834640"/>
            <a:ext cx="166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770816"/>
                </a:solidFill>
              </a:rPr>
              <a:t>People</a:t>
            </a:r>
            <a:endParaRPr lang="en-US" sz="1800" dirty="0"/>
          </a:p>
        </p:txBody>
      </p:sp>
      <p:sp>
        <p:nvSpPr>
          <p:cNvPr id="33" name="Text 25"/>
          <p:cNvSpPr txBox="1"/>
          <p:nvPr/>
        </p:nvSpPr>
        <p:spPr>
          <a:xfrm>
            <a:off x="8174736" y="3291840"/>
            <a:ext cx="14813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B5A5D"/>
                </a:solidFill>
              </a:rPr>
              <a:t>Faculty to final approver</a:t>
            </a:r>
            <a:endParaRPr lang="en-US" sz="1300" dirty="0"/>
          </a:p>
        </p:txBody>
      </p:sp>
      <p:sp>
        <p:nvSpPr>
          <p:cNvPr id="34" name="Text 26"/>
          <p:cNvSpPr txBox="1"/>
          <p:nvPr/>
        </p:nvSpPr>
        <p:spPr>
          <a:xfrm>
            <a:off x="9729216" y="265176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D9A441"/>
                </a:solidFill>
              </a:rPr>
              <a:t>›</a:t>
            </a:r>
            <a:endParaRPr lang="en-US" sz="2600" dirty="0"/>
          </a:p>
        </p:txBody>
      </p:sp>
      <p:sp>
        <p:nvSpPr>
          <p:cNvPr id="35" name="Shape 27"/>
          <p:cNvSpPr/>
          <p:nvPr/>
        </p:nvSpPr>
        <p:spPr>
          <a:xfrm>
            <a:off x="9966960" y="1828800"/>
            <a:ext cx="1664208" cy="2286000"/>
          </a:xfrm>
          <a:prstGeom prst="roundRect">
            <a:avLst>
              <a:gd name="adj" fmla="val 6593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28"/>
          <p:cNvSpPr/>
          <p:nvPr/>
        </p:nvSpPr>
        <p:spPr>
          <a:xfrm>
            <a:off x="10433304" y="2011680"/>
            <a:ext cx="731520" cy="73152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7" name="Image 5" descr="FiFla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94238" y="2172614"/>
            <a:ext cx="409651" cy="409651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9966960" y="2834640"/>
            <a:ext cx="166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770816"/>
                </a:solidFill>
              </a:rPr>
              <a:t>Posted</a:t>
            </a:r>
            <a:endParaRPr lang="en-US" sz="1800" dirty="0"/>
          </a:p>
        </p:txBody>
      </p:sp>
      <p:sp>
        <p:nvSpPr>
          <p:cNvPr id="39" name="Text 30"/>
          <p:cNvSpPr txBox="1"/>
          <p:nvPr/>
        </p:nvSpPr>
        <p:spPr>
          <a:xfrm>
            <a:off x="10058400" y="3291840"/>
            <a:ext cx="14813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B5A5D"/>
                </a:solidFill>
              </a:rPr>
              <a:t>Grade T, student notified</a:t>
            </a:r>
            <a:endParaRPr lang="en-US" sz="1300" dirty="0"/>
          </a:p>
        </p:txBody>
      </p:sp>
      <p:sp>
        <p:nvSpPr>
          <p:cNvPr id="40" name="Shape 31"/>
          <p:cNvSpPr/>
          <p:nvPr/>
        </p:nvSpPr>
        <p:spPr>
          <a:xfrm>
            <a:off x="548640" y="457200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2"/>
          <p:cNvSpPr txBox="1"/>
          <p:nvPr/>
        </p:nvSpPr>
        <p:spPr>
          <a:xfrm>
            <a:off x="822960" y="461772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770816"/>
                </a:solidFill>
              </a:rPr>
              <a:t>The learning loop.  </a:t>
            </a:r>
            <a:r>
              <a:rPr lang="en-US" sz="1700" dirty="0">
                <a:solidFill>
                  <a:srgbClr val="2B1A1D"/>
                </a:solidFill>
              </a:rPr>
              <a:t>Every approved decision is saved as a reusable equivalency with effective dates, and AI results are cached across students, so the second student with the same course never waits.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six-course story, upload to posting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5A5D"/>
                </a:solidFill>
              </a:rPr>
              <a:t>TransferHub  ·  Clopay Code Crafters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3716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B5A5D"/>
                </a:solidFill>
              </a:rPr>
              <a:t>External course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120640" y="13716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B5A5D"/>
                </a:solidFill>
              </a:rPr>
              <a:t>Lane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315200" y="13716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B5A5D"/>
                </a:solidFill>
              </a:rPr>
              <a:t>What the student sees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48640" y="1783080"/>
            <a:ext cx="11064240" cy="621792"/>
          </a:xfrm>
          <a:prstGeom prst="roundRect">
            <a:avLst>
              <a:gd name="adj" fmla="val 17647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 txBox="1"/>
          <p:nvPr/>
        </p:nvSpPr>
        <p:spPr>
          <a:xfrm>
            <a:off x="822960" y="1783080"/>
            <a:ext cx="4206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B1A1D"/>
                </a:solidFill>
              </a:rPr>
              <a:t>CSC 110  Intro to Programming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5120640" y="1901952"/>
            <a:ext cx="2011680" cy="384048"/>
          </a:xfrm>
          <a:prstGeom prst="roundRect">
            <a:avLst>
              <a:gd name="adj" fmla="val 47619"/>
            </a:avLst>
          </a:prstGeom>
          <a:solidFill>
            <a:srgbClr val="2F7D5B"/>
          </a:solidFill>
          <a:ln w="12700">
            <a:solidFill>
              <a:srgbClr val="2F7D5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 txBox="1"/>
          <p:nvPr/>
        </p:nvSpPr>
        <p:spPr>
          <a:xfrm>
            <a:off x="5120640" y="1901952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Applied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315200" y="1783080"/>
            <a:ext cx="4206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B1A1D"/>
                </a:solidFill>
              </a:rPr>
              <a:t>BU CS 111 · 4 cr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2496312"/>
            <a:ext cx="11064240" cy="621792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 txBox="1"/>
          <p:nvPr/>
        </p:nvSpPr>
        <p:spPr>
          <a:xfrm>
            <a:off x="822960" y="2496312"/>
            <a:ext cx="4206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B1A1D"/>
                </a:solidFill>
              </a:rPr>
              <a:t>MAT 210  Calculus I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120640" y="2615184"/>
            <a:ext cx="2011680" cy="384048"/>
          </a:xfrm>
          <a:prstGeom prst="roundRect">
            <a:avLst>
              <a:gd name="adj" fmla="val 47619"/>
            </a:avLst>
          </a:prstGeom>
          <a:solidFill>
            <a:srgbClr val="2F7D5B"/>
          </a:solidFill>
          <a:ln w="12700">
            <a:solidFill>
              <a:srgbClr val="2F7D5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 txBox="1"/>
          <p:nvPr/>
        </p:nvSpPr>
        <p:spPr>
          <a:xfrm>
            <a:off x="5120640" y="2615184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Applied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7315200" y="2496312"/>
            <a:ext cx="4206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B1A1D"/>
                </a:solidFill>
              </a:rPr>
              <a:t>BU MA 123 · 4 cr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548640" y="3209544"/>
            <a:ext cx="11064240" cy="621792"/>
          </a:xfrm>
          <a:prstGeom prst="roundRect">
            <a:avLst>
              <a:gd name="adj" fmla="val 17647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 txBox="1"/>
          <p:nvPr/>
        </p:nvSpPr>
        <p:spPr>
          <a:xfrm>
            <a:off x="822960" y="3209544"/>
            <a:ext cx="4206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B1A1D"/>
                </a:solidFill>
              </a:rPr>
              <a:t>ECO 101  Microeconomics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5120640" y="3328416"/>
            <a:ext cx="2011680" cy="384048"/>
          </a:xfrm>
          <a:prstGeom prst="roundRect">
            <a:avLst>
              <a:gd name="adj" fmla="val 47619"/>
            </a:avLst>
          </a:prstGeom>
          <a:solidFill>
            <a:srgbClr val="2F7D5B"/>
          </a:solidFill>
          <a:ln w="12700">
            <a:solidFill>
              <a:srgbClr val="2F7D5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 txBox="1"/>
          <p:nvPr/>
        </p:nvSpPr>
        <p:spPr>
          <a:xfrm>
            <a:off x="5120640" y="3328416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Applied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315200" y="3209544"/>
            <a:ext cx="4206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B1A1D"/>
                </a:solidFill>
              </a:rPr>
              <a:t>BU EC 101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548640" y="3922776"/>
            <a:ext cx="11064240" cy="621792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 txBox="1"/>
          <p:nvPr/>
        </p:nvSpPr>
        <p:spPr>
          <a:xfrm>
            <a:off x="822960" y="3922776"/>
            <a:ext cx="4206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B1A1D"/>
                </a:solidFill>
              </a:rPr>
              <a:t>CSC 220  Data Structures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5120640" y="4041648"/>
            <a:ext cx="2011680" cy="384048"/>
          </a:xfrm>
          <a:prstGeom prst="roundRect">
            <a:avLst>
              <a:gd name="adj" fmla="val 47619"/>
            </a:avLst>
          </a:prstGeom>
          <a:solidFill>
            <a:srgbClr val="C98A1B"/>
          </a:solidFill>
          <a:ln w="12700">
            <a:solidFill>
              <a:srgbClr val="C98A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 txBox="1"/>
          <p:nvPr/>
        </p:nvSpPr>
        <p:spPr>
          <a:xfrm>
            <a:off x="5120640" y="404164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Likely match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7315200" y="3922776"/>
            <a:ext cx="4206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B1A1D"/>
                </a:solidFill>
              </a:rPr>
              <a:t>Suggested CS 112 · pending CS dept</a:t>
            </a:r>
            <a:endParaRPr lang="en-US" sz="1500" dirty="0"/>
          </a:p>
        </p:txBody>
      </p:sp>
      <p:sp>
        <p:nvSpPr>
          <p:cNvPr id="28" name="Shape 25"/>
          <p:cNvSpPr/>
          <p:nvPr/>
        </p:nvSpPr>
        <p:spPr>
          <a:xfrm>
            <a:off x="548640" y="4636008"/>
            <a:ext cx="11064240" cy="621792"/>
          </a:xfrm>
          <a:prstGeom prst="roundRect">
            <a:avLst>
              <a:gd name="adj" fmla="val 17647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 txBox="1"/>
          <p:nvPr/>
        </p:nvSpPr>
        <p:spPr>
          <a:xfrm>
            <a:off x="822960" y="4636008"/>
            <a:ext cx="4206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B1A1D"/>
                </a:solidFill>
              </a:rPr>
              <a:t>CSC 240  Discrete Math</a:t>
            </a:r>
            <a:endParaRPr lang="en-US" sz="1600" dirty="0"/>
          </a:p>
        </p:txBody>
      </p:sp>
      <p:sp>
        <p:nvSpPr>
          <p:cNvPr id="30" name="Shape 27"/>
          <p:cNvSpPr/>
          <p:nvPr/>
        </p:nvSpPr>
        <p:spPr>
          <a:xfrm>
            <a:off x="5120640" y="4754880"/>
            <a:ext cx="2011680" cy="384048"/>
          </a:xfrm>
          <a:prstGeom prst="roundRect">
            <a:avLst>
              <a:gd name="adj" fmla="val 47619"/>
            </a:avLst>
          </a:prstGeom>
          <a:solidFill>
            <a:srgbClr val="C98A1B"/>
          </a:solidFill>
          <a:ln w="12700">
            <a:solidFill>
              <a:srgbClr val="C98A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8"/>
          <p:cNvSpPr txBox="1"/>
          <p:nvPr/>
        </p:nvSpPr>
        <p:spPr>
          <a:xfrm>
            <a:off x="5120640" y="475488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Needs syllabus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7315200" y="4636008"/>
            <a:ext cx="4206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B1A1D"/>
                </a:solidFill>
              </a:rPr>
              <a:t>CS 131 or MA 293 · evaluator picks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548640" y="5349240"/>
            <a:ext cx="11064240" cy="621792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Text 31"/>
          <p:cNvSpPr txBox="1"/>
          <p:nvPr/>
        </p:nvSpPr>
        <p:spPr>
          <a:xfrm>
            <a:off x="822960" y="5349240"/>
            <a:ext cx="4206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B1A1D"/>
                </a:solidFill>
              </a:rPr>
              <a:t>CIS 150  Linear Algebra (quarter)</a:t>
            </a:r>
            <a:endParaRPr lang="en-US" sz="1600" dirty="0"/>
          </a:p>
        </p:txBody>
      </p:sp>
      <p:sp>
        <p:nvSpPr>
          <p:cNvPr id="35" name="Shape 32"/>
          <p:cNvSpPr/>
          <p:nvPr/>
        </p:nvSpPr>
        <p:spPr>
          <a:xfrm>
            <a:off x="5120640" y="5468112"/>
            <a:ext cx="2011680" cy="384048"/>
          </a:xfrm>
          <a:prstGeom prst="roundRect">
            <a:avLst>
              <a:gd name="adj" fmla="val 47619"/>
            </a:avLst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3"/>
          <p:cNvSpPr txBox="1"/>
          <p:nvPr/>
        </p:nvSpPr>
        <p:spPr>
          <a:xfrm>
            <a:off x="5120640" y="5468112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4 qtr → 2.66 cr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7315200" y="5349240"/>
            <a:ext cx="4206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B1A1D"/>
                </a:solidFill>
              </a:rPr>
              <a:t>Elective or MA 242 · evaluator decides</a:t>
            </a:r>
            <a:endParaRPr lang="en-US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770816"/>
                </a:solidFill>
              </a:rPr>
              <a:t>Result: 12 credits secure at upload, three pending items each with a named next step.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Evaluators: everything in one place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5A5D"/>
                </a:solidFill>
              </a:rPr>
              <a:t>TransferHub  ·  Clopay Code Crafters</a:t>
            </a:r>
            <a:endParaRPr lang="en-US" sz="1000" dirty="0"/>
          </a:p>
        </p:txBody>
      </p:sp>
      <p:pic>
        <p:nvPicPr>
          <p:cNvPr id="5" name="Request review screenshot" descr="Request review screensho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25880"/>
            <a:ext cx="7589520" cy="4846320"/>
          </a:xfrm>
          <a:prstGeom prst="rect">
            <a:avLst/>
          </a:prstGeom>
          <a:effectLst>
            <a:outerShdw blurRad="152400" dist="38100" dir="5400000" algn="bl" rotWithShape="0">
              <a:srgbClr val="000000">
                <a:alpha val="25000"/>
              </a:srgbClr>
            </a:outerShdw>
          </a:effectLst>
        </p:spPr>
      </p:pic>
      <p:sp>
        <p:nvSpPr>
          <p:cNvPr id="6" name="Text 2"/>
          <p:cNvSpPr txBox="1"/>
          <p:nvPr/>
        </p:nvSpPr>
        <p:spPr>
          <a:xfrm>
            <a:off x="8412480" y="14173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Reviewer brief</a:t>
            </a:r>
            <a:endParaRPr lang="en-US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8412480" y="1801368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B1A1D"/>
                </a:solidFill>
              </a:rPr>
              <a:t>Policy flags, credit math and Hub rule, generated for free.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8412480" y="26060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Ranked suggestions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8412480" y="2990088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B1A1D"/>
                </a:solidFill>
              </a:rPr>
              <a:t>Each with a plain-language reason. One click accepts all above X%.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8412480" y="3794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Approve in bulk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8412480" y="4178808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B1A1D"/>
                </a:solidFill>
              </a:rPr>
              <a:t>Queue-level approve for clean requests.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8412480" y="49834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Always overridable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8412480" y="5367528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B1A1D"/>
                </a:solidFill>
              </a:rPr>
              <a:t>Faculty can change any match by hand.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Students: no more black box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5A5D"/>
                </a:solidFill>
              </a:rPr>
              <a:t>TransferHub  ·  Clopay Code Crafters</a:t>
            </a:r>
            <a:endParaRPr lang="en-US" sz="1000" dirty="0"/>
          </a:p>
        </p:txBody>
      </p:sp>
      <p:pic>
        <p:nvPicPr>
          <p:cNvPr id="5" name="Student dashboard screenshot" descr="Student dashboard screensho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0" y="1325880"/>
            <a:ext cx="7223760" cy="4846320"/>
          </a:xfrm>
          <a:prstGeom prst="rect">
            <a:avLst/>
          </a:prstGeom>
          <a:effectLst>
            <a:outerShdw blurRad="152400" dist="38100" dir="5400000" algn="bl" rotWithShape="0">
              <a:srgbClr val="000000">
                <a:alpha val="25000"/>
              </a:srgbClr>
            </a:outerShdw>
          </a:effectLst>
        </p:spPr>
      </p:pic>
      <p:sp>
        <p:nvSpPr>
          <p:cNvPr id="6" name="Shape 2"/>
          <p:cNvSpPr/>
          <p:nvPr/>
        </p:nvSpPr>
        <p:spPr>
          <a:xfrm>
            <a:off x="548640" y="1417320"/>
            <a:ext cx="548640" cy="54864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1" descr="FiEy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341" y="1538021"/>
            <a:ext cx="307238" cy="307238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280160" y="14173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 every course</a:t>
            </a:r>
            <a:endParaRPr lang="en-US" sz="1800" dirty="0"/>
          </a:p>
        </p:txBody>
      </p:sp>
      <p:sp>
        <p:nvSpPr>
          <p:cNvPr id="9" name="Text 4"/>
          <p:cNvSpPr txBox="1"/>
          <p:nvPr/>
        </p:nvSpPr>
        <p:spPr>
          <a:xfrm>
            <a:off x="1280160" y="1764792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B1A1D"/>
                </a:solidFill>
              </a:rPr>
              <a:t>Status and next action per course.</a:t>
            </a:r>
            <a:endParaRPr lang="en-US" sz="1400" dirty="0"/>
          </a:p>
        </p:txBody>
      </p:sp>
      <p:sp>
        <p:nvSpPr>
          <p:cNvPr id="10" name="Shape 5"/>
          <p:cNvSpPr/>
          <p:nvPr/>
        </p:nvSpPr>
        <p:spPr>
          <a:xfrm>
            <a:off x="548640" y="2606040"/>
            <a:ext cx="548640" cy="54864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1" name="Image 2" descr="FiClock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341" y="2726741"/>
            <a:ext cx="307238" cy="307238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1280160" y="26060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timeline</a:t>
            </a:r>
            <a:endParaRPr lang="en-US" sz="1800" dirty="0"/>
          </a:p>
        </p:txBody>
      </p:sp>
      <p:sp>
        <p:nvSpPr>
          <p:cNvPr id="13" name="Text 7"/>
          <p:cNvSpPr txBox="1"/>
          <p:nvPr/>
        </p:nvSpPr>
        <p:spPr>
          <a:xfrm>
            <a:off x="1280160" y="2953512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B1A1D"/>
                </a:solidFill>
              </a:rPr>
              <a:t>Which stage, who owns it, how long.</a:t>
            </a:r>
            <a:endParaRPr lang="en-US" sz="1400" dirty="0"/>
          </a:p>
        </p:txBody>
      </p:sp>
      <p:sp>
        <p:nvSpPr>
          <p:cNvPr id="14" name="Shape 8"/>
          <p:cNvSpPr/>
          <p:nvPr/>
        </p:nvSpPr>
        <p:spPr>
          <a:xfrm>
            <a:off x="548640" y="3794760"/>
            <a:ext cx="548640" cy="54864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5" name="Image 3" descr="FiBell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9341" y="3915461"/>
            <a:ext cx="307238" cy="307238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280160" y="37947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Nudge</a:t>
            </a:r>
            <a:endParaRPr lang="en-US" sz="1800" dirty="0"/>
          </a:p>
        </p:txBody>
      </p:sp>
      <p:sp>
        <p:nvSpPr>
          <p:cNvPr id="17" name="Text 10"/>
          <p:cNvSpPr txBox="1"/>
          <p:nvPr/>
        </p:nvSpPr>
        <p:spPr>
          <a:xfrm>
            <a:off x="1280160" y="4142232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B1A1D"/>
                </a:solidFill>
              </a:rPr>
              <a:t>Ask for an update, rate-limited.</a:t>
            </a:r>
            <a:endParaRPr lang="en-US" sz="1400" dirty="0"/>
          </a:p>
        </p:txBody>
      </p:sp>
      <p:sp>
        <p:nvSpPr>
          <p:cNvPr id="18" name="Shape 11"/>
          <p:cNvSpPr/>
          <p:nvPr/>
        </p:nvSpPr>
        <p:spPr>
          <a:xfrm>
            <a:off x="548640" y="4983480"/>
            <a:ext cx="548640" cy="54864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9" name="Image 4" descr="FiFileText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9341" y="5104181"/>
            <a:ext cx="307238" cy="307238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280160" y="49834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needed syllabi</a:t>
            </a:r>
            <a:endParaRPr lang="en-US" sz="1800" dirty="0"/>
          </a:p>
        </p:txBody>
      </p:sp>
      <p:sp>
        <p:nvSpPr>
          <p:cNvPr id="21" name="Text 13"/>
          <p:cNvSpPr txBox="1"/>
          <p:nvPr/>
        </p:nvSpPr>
        <p:spPr>
          <a:xfrm>
            <a:off x="1280160" y="5330952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B1A1D"/>
                </a:solidFill>
              </a:rPr>
              <a:t>And why each one matters.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3A04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731520" y="21945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Beyond the ask</a:t>
            </a:r>
            <a:endParaRPr lang="en-US" sz="60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34747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FFFFFF"/>
                </a:solidFill>
              </a:rPr>
              <a:t>What turns an evaluator tool into a platform</a:t>
            </a:r>
            <a:endParaRPr lang="en-US" sz="2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that keeps working when AI is off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5A5D"/>
                </a:solidFill>
              </a:rPr>
              <a:t>TransferHub  ·  Clopay Code Crafters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6583680" cy="1325880"/>
          </a:xfrm>
          <a:prstGeom prst="roundRect">
            <a:avLst>
              <a:gd name="adj" fmla="val 8276"/>
            </a:avLst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 txBox="1"/>
          <p:nvPr/>
        </p:nvSpPr>
        <p:spPr>
          <a:xfrm>
            <a:off x="731520" y="1463040"/>
            <a:ext cx="6400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1463040" y="1508760"/>
            <a:ext cx="5486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Claude</a:t>
            </a:r>
            <a:endParaRPr lang="en-US" sz="20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Cheap model first, stronger one only when unsure. Reads PDFs and photos, ranks matches.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2971800"/>
            <a:ext cx="6583680" cy="1325880"/>
          </a:xfrm>
          <a:prstGeom prst="roundRect">
            <a:avLst>
              <a:gd name="adj" fmla="val 8276"/>
            </a:avLst>
          </a:prstGeom>
          <a:solidFill>
            <a:srgbClr val="D9A441"/>
          </a:solidFill>
          <a:ln w="12700">
            <a:solidFill>
              <a:srgbClr val="D9A4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 txBox="1"/>
          <p:nvPr/>
        </p:nvSpPr>
        <p:spPr>
          <a:xfrm>
            <a:off x="731520" y="2971800"/>
            <a:ext cx="6400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3A04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1463040" y="3017520"/>
            <a:ext cx="5486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A040B"/>
                </a:solidFill>
              </a:rPr>
              <a:t>Built-in rules</a:t>
            </a:r>
            <a:endParaRPr lang="en-US" sz="2000" dirty="0"/>
          </a:p>
          <a:p>
            <a:pPr marL="0" indent="0">
              <a:buNone/>
            </a:pPr>
            <a:r>
              <a:rPr lang="en-US" sz="1400" dirty="0">
                <a:solidFill>
                  <a:srgbClr val="3A040B"/>
                </a:solidFill>
              </a:rPr>
              <a:t>Zero tokens. Reads text PDFs, classifies, extracts fields, ranks courses by title, topic, code and credits. Capped at 70% confidence.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548640" y="4480560"/>
            <a:ext cx="6583680" cy="1325880"/>
          </a:xfrm>
          <a:prstGeom prst="roundRect">
            <a:avLst>
              <a:gd name="adj" fmla="val 8276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 txBox="1"/>
          <p:nvPr/>
        </p:nvSpPr>
        <p:spPr>
          <a:xfrm>
            <a:off x="731520" y="4480560"/>
            <a:ext cx="6400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2B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13" name="Text 10"/>
          <p:cNvSpPr txBox="1"/>
          <p:nvPr/>
        </p:nvSpPr>
        <p:spPr>
          <a:xfrm>
            <a:off x="1463040" y="4526280"/>
            <a:ext cx="5486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B1A1D"/>
                </a:solidFill>
              </a:rPr>
              <a:t>Human</a:t>
            </a:r>
            <a:endParaRPr lang="en-US" sz="2000" dirty="0"/>
          </a:p>
          <a:p>
            <a:pPr marL="0" indent="0">
              <a:buNone/>
            </a:pPr>
            <a:r>
              <a:rPr lang="en-US" sz="1400" dirty="0">
                <a:solidFill>
                  <a:srgbClr val="2B1A1D"/>
                </a:solidFill>
              </a:rPr>
              <a:t>Faculty and students can always edit or override. Nothing is ever auto-rejected.</a:t>
            </a:r>
            <a:endParaRPr lang="en-US" sz="2000" dirty="0"/>
          </a:p>
        </p:txBody>
      </p:sp>
      <p:pic>
        <p:nvPicPr>
          <p:cNvPr id="14" name="AI Controls screenshot" descr="AI Controls screensho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0" y="1463040"/>
            <a:ext cx="4297680" cy="4480560"/>
          </a:xfrm>
          <a:prstGeom prst="rect">
            <a:avLst/>
          </a:prstGeom>
          <a:effectLst>
            <a:outerShdw blurRad="152400" dist="38100" dir="5400000" algn="bl" rotWithShape="0">
              <a:srgbClr val="000000">
                <a:alpha val="25000"/>
              </a:srgbClr>
            </a:outerShdw>
          </a:effectLst>
        </p:spPr>
      </p:pic>
      <p:sp>
        <p:nvSpPr>
          <p:cNvPr id="15" name="Text 11"/>
          <p:cNvSpPr txBox="1"/>
          <p:nvPr/>
        </p:nvSpPr>
        <p:spPr>
          <a:xfrm>
            <a:off x="548640" y="598932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5A5D"/>
                </a:solidFill>
              </a:rPr>
              <a:t>Falls through automatically: key missing, switch off, budget used, or API error.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Reads the documents. Gets students in five ways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5A5D"/>
                </a:solidFill>
              </a:rPr>
              <a:t>TransferHub  ·  Clopay Code Crafters</a:t>
            </a:r>
            <a:endParaRPr lang="en-US" sz="1000" dirty="0"/>
          </a:p>
        </p:txBody>
      </p:sp>
      <p:pic>
        <p:nvPicPr>
          <p:cNvPr id="5" name="Smart upload screenshot" descr="Smart upload screensho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25880"/>
            <a:ext cx="5394960" cy="3383280"/>
          </a:xfrm>
          <a:prstGeom prst="rect">
            <a:avLst/>
          </a:prstGeom>
          <a:effectLst>
            <a:outerShdw blurRad="152400" dist="38100" dir="5400000" algn="bl" rotWithShape="0">
              <a:srgbClr val="000000">
                <a:alpha val="25000"/>
              </a:srgbClr>
            </a:outerShdw>
          </a:effectLst>
        </p:spPr>
      </p:pic>
      <p:pic>
        <p:nvPicPr>
          <p:cNvPr id="6" name="Intake lookup screenshot" descr="Intake lookup screensho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1325880"/>
            <a:ext cx="5394960" cy="3383280"/>
          </a:xfrm>
          <a:prstGeom prst="rect">
            <a:avLst/>
          </a:prstGeom>
          <a:effectLst>
            <a:outerShdw blurRad="152400" dist="38100" dir="5400000" algn="bl" rotWithShape="0">
              <a:srgbClr val="000000">
                <a:alpha val="25000"/>
              </a:srgbClr>
            </a:outerShdw>
          </a:effectLst>
        </p:spPr>
      </p:pic>
      <p:sp>
        <p:nvSpPr>
          <p:cNvPr id="7" name="Shape 2"/>
          <p:cNvSpPr/>
          <p:nvPr/>
        </p:nvSpPr>
        <p:spPr>
          <a:xfrm>
            <a:off x="548640" y="4983480"/>
            <a:ext cx="2057400" cy="1097280"/>
          </a:xfrm>
          <a:prstGeom prst="roundRect">
            <a:avLst>
              <a:gd name="adj" fmla="val 10000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3"/>
          <p:cNvSpPr/>
          <p:nvPr/>
        </p:nvSpPr>
        <p:spPr>
          <a:xfrm>
            <a:off x="731520" y="5257800"/>
            <a:ext cx="548640" cy="54864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9" name="Image 2" descr="FiUserPlu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2221" y="5378501"/>
            <a:ext cx="307238" cy="307238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1371600" y="4983480"/>
            <a:ext cx="1188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B1A1D"/>
                </a:solidFill>
              </a:rPr>
              <a:t>Self-register</a:t>
            </a:r>
            <a:endParaRPr lang="en-US" sz="1400" dirty="0"/>
          </a:p>
        </p:txBody>
      </p:sp>
      <p:sp>
        <p:nvSpPr>
          <p:cNvPr id="11" name="Shape 5"/>
          <p:cNvSpPr/>
          <p:nvPr/>
        </p:nvSpPr>
        <p:spPr>
          <a:xfrm>
            <a:off x="2788920" y="4983480"/>
            <a:ext cx="2057400" cy="1097280"/>
          </a:xfrm>
          <a:prstGeom prst="roundRect">
            <a:avLst>
              <a:gd name="adj" fmla="val 10000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6"/>
          <p:cNvSpPr/>
          <p:nvPr/>
        </p:nvSpPr>
        <p:spPr>
          <a:xfrm>
            <a:off x="2971800" y="5257800"/>
            <a:ext cx="548640" cy="54864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Image 3" descr="FiMail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92501" y="5378501"/>
            <a:ext cx="307238" cy="307238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3611880" y="4983480"/>
            <a:ext cx="1188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B1A1D"/>
                </a:solidFill>
              </a:rPr>
              <a:t>Email link</a:t>
            </a:r>
            <a:endParaRPr lang="en-US" sz="1400" dirty="0"/>
          </a:p>
        </p:txBody>
      </p:sp>
      <p:sp>
        <p:nvSpPr>
          <p:cNvPr id="15" name="Shape 8"/>
          <p:cNvSpPr/>
          <p:nvPr/>
        </p:nvSpPr>
        <p:spPr>
          <a:xfrm>
            <a:off x="5029200" y="4983480"/>
            <a:ext cx="2057400" cy="1097280"/>
          </a:xfrm>
          <a:prstGeom prst="roundRect">
            <a:avLst>
              <a:gd name="adj" fmla="val 10000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9"/>
          <p:cNvSpPr/>
          <p:nvPr/>
        </p:nvSpPr>
        <p:spPr>
          <a:xfrm>
            <a:off x="5212080" y="5257800"/>
            <a:ext cx="548640" cy="54864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7" name="Image 4" descr="FiGrid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32781" y="5378501"/>
            <a:ext cx="307238" cy="307238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5852160" y="4983480"/>
            <a:ext cx="1188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B1A1D"/>
                </a:solidFill>
              </a:rPr>
              <a:t>QR code</a:t>
            </a:r>
            <a:endParaRPr lang="en-US" sz="1400" dirty="0"/>
          </a:p>
        </p:txBody>
      </p:sp>
      <p:sp>
        <p:nvSpPr>
          <p:cNvPr id="19" name="Shape 11"/>
          <p:cNvSpPr/>
          <p:nvPr/>
        </p:nvSpPr>
        <p:spPr>
          <a:xfrm>
            <a:off x="7269480" y="4983480"/>
            <a:ext cx="2057400" cy="1097280"/>
          </a:xfrm>
          <a:prstGeom prst="roundRect">
            <a:avLst>
              <a:gd name="adj" fmla="val 10000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2"/>
          <p:cNvSpPr/>
          <p:nvPr/>
        </p:nvSpPr>
        <p:spPr>
          <a:xfrm>
            <a:off x="7452360" y="5257800"/>
            <a:ext cx="548640" cy="54864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1" name="Image 5" descr="FiDatabas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73061" y="5378501"/>
            <a:ext cx="307238" cy="307238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8092440" y="4983480"/>
            <a:ext cx="1188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B1A1D"/>
                </a:solidFill>
              </a:rPr>
              <a:t>Registrar profile</a:t>
            </a:r>
            <a:endParaRPr lang="en-US" sz="1400" dirty="0"/>
          </a:p>
        </p:txBody>
      </p:sp>
      <p:sp>
        <p:nvSpPr>
          <p:cNvPr id="23" name="Shape 14"/>
          <p:cNvSpPr/>
          <p:nvPr/>
        </p:nvSpPr>
        <p:spPr>
          <a:xfrm>
            <a:off x="9509760" y="4983480"/>
            <a:ext cx="2057400" cy="1097280"/>
          </a:xfrm>
          <a:prstGeom prst="roundRect">
            <a:avLst>
              <a:gd name="adj" fmla="val 10000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15"/>
          <p:cNvSpPr/>
          <p:nvPr/>
        </p:nvSpPr>
        <p:spPr>
          <a:xfrm>
            <a:off x="9692640" y="5257800"/>
            <a:ext cx="548640" cy="54864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5" name="Image 6" descr="FiUploadCloud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13341" y="5378501"/>
            <a:ext cx="307238" cy="307238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10332720" y="4983480"/>
            <a:ext cx="1188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B1A1D"/>
                </a:solidFill>
              </a:rPr>
              <a:t>Agency bulk API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BU's actual rules, enforced and explained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5A5D"/>
                </a:solidFill>
              </a:rPr>
              <a:t>TransferHub  ·  Clopay Code Crafters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417320"/>
            <a:ext cx="5486400" cy="786384"/>
          </a:xfrm>
          <a:prstGeom prst="roundRect">
            <a:avLst>
              <a:gd name="adj" fmla="val 13953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 txBox="1"/>
          <p:nvPr/>
        </p:nvSpPr>
        <p:spPr>
          <a:xfrm>
            <a:off x="777240" y="1417320"/>
            <a:ext cx="5120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70816"/>
                </a:solidFill>
              </a:rPr>
              <a:t>Credit cap  </a:t>
            </a:r>
            <a:r>
              <a:rPr lang="en-US" sz="1400" dirty="0">
                <a:solidFill>
                  <a:srgbClr val="2B1A1D"/>
                </a:solidFill>
              </a:rPr>
              <a:t>68 transfer / 60 first-year / 80 MET, incl. AP, IB, A-level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2313432"/>
            <a:ext cx="5486400" cy="786384"/>
          </a:xfrm>
          <a:prstGeom prst="roundRect">
            <a:avLst>
              <a:gd name="adj" fmla="val 13953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 txBox="1"/>
          <p:nvPr/>
        </p:nvSpPr>
        <p:spPr>
          <a:xfrm>
            <a:off x="777240" y="2313432"/>
            <a:ext cx="5120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70816"/>
                </a:solidFill>
              </a:rPr>
              <a:t>Grades  </a:t>
            </a:r>
            <a:r>
              <a:rPr lang="en-US" sz="1400" dirty="0">
                <a:solidFill>
                  <a:srgbClr val="2B1A1D"/>
                </a:solidFill>
              </a:rPr>
              <a:t>C or better. P/F and S/U go to review, with exceptions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48640" y="3209544"/>
            <a:ext cx="5486400" cy="786384"/>
          </a:xfrm>
          <a:prstGeom prst="roundRect">
            <a:avLst>
              <a:gd name="adj" fmla="val 13953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 txBox="1"/>
          <p:nvPr/>
        </p:nvSpPr>
        <p:spPr>
          <a:xfrm>
            <a:off x="777240" y="3209544"/>
            <a:ext cx="5120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70816"/>
                </a:solidFill>
              </a:rPr>
              <a:t>Age and accreditation  </a:t>
            </a:r>
            <a:r>
              <a:rPr lang="en-US" sz="1400" dirty="0">
                <a:solidFill>
                  <a:srgbClr val="2B1A1D"/>
                </a:solidFill>
              </a:rPr>
              <a:t>Over 5 years or unaccredited goes to review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48640" y="4105656"/>
            <a:ext cx="5486400" cy="786384"/>
          </a:xfrm>
          <a:prstGeom prst="roundRect">
            <a:avLst>
              <a:gd name="adj" fmla="val 13953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 txBox="1"/>
          <p:nvPr/>
        </p:nvSpPr>
        <p:spPr>
          <a:xfrm>
            <a:off x="777240" y="4105656"/>
            <a:ext cx="5120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70816"/>
                </a:solidFill>
              </a:rPr>
              <a:t>Not eligible  </a:t>
            </a:r>
            <a:r>
              <a:rPr lang="en-US" sz="1400" dirty="0">
                <a:solidFill>
                  <a:srgbClr val="2B1A1D"/>
                </a:solidFill>
              </a:rPr>
              <a:t>Internships, research, military and life experience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48640" y="5001768"/>
            <a:ext cx="5486400" cy="786384"/>
          </a:xfrm>
          <a:prstGeom prst="roundRect">
            <a:avLst>
              <a:gd name="adj" fmla="val 13953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 txBox="1"/>
          <p:nvPr/>
        </p:nvSpPr>
        <p:spPr>
          <a:xfrm>
            <a:off x="777240" y="5001768"/>
            <a:ext cx="5120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70816"/>
                </a:solidFill>
              </a:rPr>
              <a:t>Hub  </a:t>
            </a:r>
            <a:r>
              <a:rPr lang="en-US" sz="1400" dirty="0">
                <a:solidFill>
                  <a:srgbClr val="2B1A1D"/>
                </a:solidFill>
              </a:rPr>
              <a:t>Transfer courses never satisfy it. Always stated</a:t>
            </a:r>
            <a:endParaRPr lang="en-US" sz="1400" dirty="0"/>
          </a:p>
        </p:txBody>
      </p:sp>
      <p:pic>
        <p:nvPicPr>
          <p:cNvPr id="15" name="Workflow designer screenshot" descr="Workflow designer screensho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371600"/>
            <a:ext cx="5394960" cy="4206240"/>
          </a:xfrm>
          <a:prstGeom prst="rect">
            <a:avLst/>
          </a:prstGeom>
          <a:effectLst>
            <a:outerShdw blurRad="152400" dist="38100" dir="5400000" algn="bl" rotWithShape="0">
              <a:srgbClr val="000000">
                <a:alpha val="25000"/>
              </a:srgbClr>
            </a:outerShdw>
          </a:effectLst>
        </p:spPr>
      </p:pic>
      <p:sp>
        <p:nvSpPr>
          <p:cNvPr id="16" name="Text 12"/>
          <p:cNvSpPr txBox="1"/>
          <p:nvPr/>
        </p:nvSpPr>
        <p:spPr>
          <a:xfrm>
            <a:off x="6309360" y="56692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5A5D"/>
                </a:solidFill>
              </a:rPr>
              <a:t>Stages, owners, SLAs, auto-approve, bypass and appeals are configured per university.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as a platform, not a prototype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5A5D"/>
                </a:solidFill>
              </a:rPr>
              <a:t>TransferHub  ·  Clopay Code Crafters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777240" y="1691640"/>
            <a:ext cx="594360" cy="59436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0" descr="FiLayer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999" y="1822399"/>
            <a:ext cx="332842" cy="33284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08760" y="169164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Multi-university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42316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B1A1D"/>
                </a:solidFill>
              </a:rPr>
              <a:t>Universities, programs, courses and topics, shared many-to-many with per-university switches.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4297680" y="146304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4526280" y="1691640"/>
            <a:ext cx="594360" cy="59436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2" name="Image 1" descr="FiLoc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7039" y="1822399"/>
            <a:ext cx="332842" cy="33284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57800" y="169164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permissions</a:t>
            </a:r>
            <a:endParaRPr lang="en-US" sz="1900" dirty="0"/>
          </a:p>
        </p:txBody>
      </p:sp>
      <p:sp>
        <p:nvSpPr>
          <p:cNvPr id="14" name="Text 9"/>
          <p:cNvSpPr txBox="1"/>
          <p:nvPr/>
        </p:nvSpPr>
        <p:spPr>
          <a:xfrm>
            <a:off x="4526280" y="242316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B1A1D"/>
                </a:solidFill>
              </a:rPr>
              <a:t>Role by module by operation matrix, enforced on every change. Admins are scoped to their universities.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8046720" y="146304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1"/>
          <p:cNvSpPr/>
          <p:nvPr/>
        </p:nvSpPr>
        <p:spPr>
          <a:xfrm>
            <a:off x="8275320" y="1691640"/>
            <a:ext cx="594360" cy="59436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7" name="Image 2" descr="FiGlob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06079" y="1822399"/>
            <a:ext cx="332842" cy="33284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9006840" y="169164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Partner API</a:t>
            </a:r>
            <a:endParaRPr lang="en-US" sz="1900" dirty="0"/>
          </a:p>
        </p:txBody>
      </p:sp>
      <p:sp>
        <p:nvSpPr>
          <p:cNvPr id="19" name="Text 13"/>
          <p:cNvSpPr txBox="1"/>
          <p:nvPr/>
        </p:nvSpPr>
        <p:spPr>
          <a:xfrm>
            <a:off x="8275320" y="242316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B1A1D"/>
                </a:solidFill>
              </a:rPr>
              <a:t>Hashed keys, Excel templates, a review queue and per-row email reports.</a:t>
            </a:r>
            <a:endParaRPr lang="en-US" sz="1400" dirty="0"/>
          </a:p>
        </p:txBody>
      </p:sp>
      <p:sp>
        <p:nvSpPr>
          <p:cNvPr id="20" name="Shape 14"/>
          <p:cNvSpPr/>
          <p:nvPr/>
        </p:nvSpPr>
        <p:spPr>
          <a:xfrm>
            <a:off x="548640" y="384048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5"/>
          <p:cNvSpPr/>
          <p:nvPr/>
        </p:nvSpPr>
        <p:spPr>
          <a:xfrm>
            <a:off x="777240" y="4069080"/>
            <a:ext cx="594360" cy="59436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2" name="Image 3" descr="FiBarChart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7999" y="4199839"/>
            <a:ext cx="332842" cy="33284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508760" y="406908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Dashboards</a:t>
            </a:r>
            <a:endParaRPr lang="en-US" sz="1900" dirty="0"/>
          </a:p>
        </p:txBody>
      </p:sp>
      <p:sp>
        <p:nvSpPr>
          <p:cNvPr id="24" name="Text 17"/>
          <p:cNvSpPr txBox="1"/>
          <p:nvPr/>
        </p:nvSpPr>
        <p:spPr>
          <a:xfrm>
            <a:off x="777240" y="480060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B1A1D"/>
                </a:solidFill>
              </a:rPr>
              <a:t>Animated analytics for every role, on desktop and mobile.</a:t>
            </a:r>
            <a:endParaRPr lang="en-US" sz="1400" dirty="0"/>
          </a:p>
        </p:txBody>
      </p:sp>
      <p:sp>
        <p:nvSpPr>
          <p:cNvPr id="25" name="Shape 18"/>
          <p:cNvSpPr/>
          <p:nvPr/>
        </p:nvSpPr>
        <p:spPr>
          <a:xfrm>
            <a:off x="4297680" y="384048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19"/>
          <p:cNvSpPr/>
          <p:nvPr/>
        </p:nvSpPr>
        <p:spPr>
          <a:xfrm>
            <a:off x="4526280" y="4069080"/>
            <a:ext cx="594360" cy="59436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7" name="Image 4" descr="FiCloud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57039" y="4199839"/>
            <a:ext cx="332842" cy="332842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5257800" y="406908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Azure-ready</a:t>
            </a:r>
            <a:endParaRPr lang="en-US" sz="1900" dirty="0"/>
          </a:p>
        </p:txBody>
      </p:sp>
      <p:sp>
        <p:nvSpPr>
          <p:cNvPr id="29" name="Text 21"/>
          <p:cNvSpPr txBox="1"/>
          <p:nvPr/>
        </p:nvSpPr>
        <p:spPr>
          <a:xfrm>
            <a:off x="4526280" y="480060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B1A1D"/>
                </a:solidFill>
              </a:rPr>
              <a:t>App Service, Azure SQL, Blob storage, GitHub Actions deploy.</a:t>
            </a:r>
            <a:endParaRPr lang="en-US" sz="1400" dirty="0"/>
          </a:p>
        </p:txBody>
      </p:sp>
      <p:sp>
        <p:nvSpPr>
          <p:cNvPr id="30" name="Shape 22"/>
          <p:cNvSpPr/>
          <p:nvPr/>
        </p:nvSpPr>
        <p:spPr>
          <a:xfrm>
            <a:off x="8046720" y="384048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3"/>
          <p:cNvSpPr/>
          <p:nvPr/>
        </p:nvSpPr>
        <p:spPr>
          <a:xfrm>
            <a:off x="8275320" y="4069080"/>
            <a:ext cx="594360" cy="59436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2" name="Image 5" descr="FiRepeat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06079" y="4199839"/>
            <a:ext cx="332842" cy="332842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9006840" y="406908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Two-university exchange</a:t>
            </a:r>
            <a:endParaRPr lang="en-US" sz="1900" dirty="0"/>
          </a:p>
        </p:txBody>
      </p:sp>
      <p:sp>
        <p:nvSpPr>
          <p:cNvPr id="34" name="Text 25"/>
          <p:cNvSpPr txBox="1"/>
          <p:nvPr/>
        </p:nvSpPr>
        <p:spPr>
          <a:xfrm>
            <a:off x="8275320" y="480060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B1A1D"/>
                </a:solidFill>
              </a:rPr>
              <a:t>Source and target both see each transfer, request and upload documents into the student folder, and remind each other.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Cheap to run: every token has to earn its place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5A5D"/>
                </a:solidFill>
              </a:rPr>
              <a:t>TransferHub  ·  Clopay Code Crafters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548640" cy="54864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 txBox="1"/>
          <p:nvPr/>
        </p:nvSpPr>
        <p:spPr>
          <a:xfrm>
            <a:off x="548640" y="1508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371600" y="141732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770816"/>
                </a:solidFill>
              </a:rPr>
              <a:t>Lexical shortlist</a:t>
            </a:r>
            <a:endParaRPr lang="en-US" sz="1900" dirty="0"/>
          </a:p>
          <a:p>
            <a:pPr marL="0" indent="0">
              <a:buNone/>
            </a:pPr>
            <a:r>
              <a:rPr lang="en-US" sz="1400" dirty="0">
                <a:solidFill>
                  <a:srgbClr val="2B1A1D"/>
                </a:solidFill>
              </a:rPr>
              <a:t>Catalogue ranked locally, only top N sent</a:t>
            </a:r>
            <a:endParaRPr lang="en-US" sz="1900" dirty="0"/>
          </a:p>
        </p:txBody>
      </p:sp>
      <p:sp>
        <p:nvSpPr>
          <p:cNvPr id="8" name="Shape 5"/>
          <p:cNvSpPr/>
          <p:nvPr/>
        </p:nvSpPr>
        <p:spPr>
          <a:xfrm>
            <a:off x="548640" y="2468880"/>
            <a:ext cx="548640" cy="54864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 txBox="1"/>
          <p:nvPr/>
        </p:nvSpPr>
        <p:spPr>
          <a:xfrm>
            <a:off x="548640" y="2468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1371600" y="237744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770816"/>
                </a:solidFill>
              </a:rPr>
              <a:t>Cross-student cache</a:t>
            </a:r>
            <a:endParaRPr lang="en-US" sz="1900" dirty="0"/>
          </a:p>
          <a:p>
            <a:pPr marL="0" indent="0">
              <a:buNone/>
            </a:pPr>
            <a:r>
              <a:rPr lang="en-US" sz="1400" dirty="0">
                <a:solidFill>
                  <a:srgbClr val="2B1A1D"/>
                </a:solidFill>
              </a:rPr>
              <a:t>Same course, one model call, ever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548640" y="3429000"/>
            <a:ext cx="548640" cy="54864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 txBox="1"/>
          <p:nvPr/>
        </p:nvSpPr>
        <p:spPr>
          <a:xfrm>
            <a:off x="548640" y="3429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1371600" y="333756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770816"/>
                </a:solidFill>
              </a:rPr>
              <a:t>Cheap model first</a:t>
            </a:r>
            <a:endParaRPr lang="en-US" sz="1900" dirty="0"/>
          </a:p>
          <a:p>
            <a:pPr marL="0" indent="0">
              <a:buNone/>
            </a:pPr>
            <a:r>
              <a:rPr lang="en-US" sz="1400" dirty="0">
                <a:solidFill>
                  <a:srgbClr val="2B1A1D"/>
                </a:solidFill>
              </a:rPr>
              <a:t>Escalate only when unsure</a:t>
            </a:r>
            <a:endParaRPr lang="en-US" sz="1900" dirty="0"/>
          </a:p>
        </p:txBody>
      </p:sp>
      <p:sp>
        <p:nvSpPr>
          <p:cNvPr id="14" name="Shape 11"/>
          <p:cNvSpPr/>
          <p:nvPr/>
        </p:nvSpPr>
        <p:spPr>
          <a:xfrm>
            <a:off x="548640" y="4389120"/>
            <a:ext cx="548640" cy="54864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 txBox="1"/>
          <p:nvPr/>
        </p:nvSpPr>
        <p:spPr>
          <a:xfrm>
            <a:off x="548640" y="4389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9768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770816"/>
                </a:solidFill>
              </a:rPr>
              <a:t>Prompt caching</a:t>
            </a:r>
            <a:endParaRPr lang="en-US" sz="1900" dirty="0"/>
          </a:p>
          <a:p>
            <a:pPr marL="0" indent="0">
              <a:buNone/>
            </a:pPr>
            <a:r>
              <a:rPr lang="en-US" sz="1400" dirty="0">
                <a:solidFill>
                  <a:srgbClr val="2B1A1D"/>
                </a:solidFill>
              </a:rPr>
              <a:t>Playbook reused across calls</a:t>
            </a:r>
            <a:endParaRPr lang="en-US" sz="1900" dirty="0"/>
          </a:p>
        </p:txBody>
      </p:sp>
      <p:sp>
        <p:nvSpPr>
          <p:cNvPr id="17" name="Shape 14"/>
          <p:cNvSpPr/>
          <p:nvPr/>
        </p:nvSpPr>
        <p:spPr>
          <a:xfrm>
            <a:off x="548640" y="5349240"/>
            <a:ext cx="548640" cy="548640"/>
          </a:xfrm>
          <a:prstGeom prst="ellipse">
            <a:avLst/>
          </a:prstGeom>
          <a:solidFill>
            <a:srgbClr val="770816"/>
          </a:solidFill>
          <a:ln w="12700">
            <a:solidFill>
              <a:srgbClr val="7708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 txBox="1"/>
          <p:nvPr/>
        </p:nvSpPr>
        <p:spPr>
          <a:xfrm>
            <a:off x="548640" y="5349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5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1371600" y="525780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770816"/>
                </a:solidFill>
              </a:rPr>
              <a:t>Budgets</a:t>
            </a:r>
            <a:endParaRPr lang="en-US" sz="1900" dirty="0"/>
          </a:p>
          <a:p>
            <a:pPr marL="0" indent="0">
              <a:buNone/>
            </a:pPr>
            <a:r>
              <a:rPr lang="en-US" sz="1400" dirty="0">
                <a:solidFill>
                  <a:srgbClr val="2B1A1D"/>
                </a:solidFill>
              </a:rPr>
              <a:t>Monthly and per-request caps, then fallback to rules</a:t>
            </a:r>
            <a:endParaRPr lang="en-US" sz="1900" dirty="0"/>
          </a:p>
        </p:txBody>
      </p:sp>
      <p:pic>
        <p:nvPicPr>
          <p:cNvPr id="20" name="Dashboard screenshot" descr="Dashboard screensho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1371600"/>
            <a:ext cx="4937760" cy="4389120"/>
          </a:xfrm>
          <a:prstGeom prst="rect">
            <a:avLst/>
          </a:prstGeom>
          <a:effectLst>
            <a:outerShdw blurRad="152400" dist="38100" dir="5400000" algn="bl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Scorecard: 22 requirements vs. the code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5A5D"/>
                </a:solidFill>
              </a:rPr>
              <a:t>TransferHub  ·  Clopay Code Crafters</a:t>
            </a:r>
            <a:endParaRPr lang="en-US" sz="10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548640" y="1371600"/>
          <a:ext cx="475488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2"/>
          <p:cNvSpPr/>
          <p:nvPr/>
        </p:nvSpPr>
        <p:spPr>
          <a:xfrm>
            <a:off x="5669280" y="1463040"/>
            <a:ext cx="5943600" cy="1280160"/>
          </a:xfrm>
          <a:prstGeom prst="roundRect">
            <a:avLst>
              <a:gd name="adj" fmla="val 8571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3"/>
          <p:cNvSpPr/>
          <p:nvPr/>
        </p:nvSpPr>
        <p:spPr>
          <a:xfrm>
            <a:off x="5897880" y="1920240"/>
            <a:ext cx="365760" cy="365760"/>
          </a:xfrm>
          <a:prstGeom prst="ellipse">
            <a:avLst/>
          </a:prstGeom>
          <a:solidFill>
            <a:srgbClr val="B3261E"/>
          </a:solidFill>
          <a:ln w="12700">
            <a:solidFill>
              <a:srgbClr val="B326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4"/>
          <p:cNvSpPr txBox="1"/>
          <p:nvPr/>
        </p:nvSpPr>
        <p:spPr>
          <a:xfrm>
            <a:off x="6446520" y="146304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B3261E"/>
                </a:solidFill>
              </a:rPr>
              <a:t>Open</a:t>
            </a:r>
            <a:endParaRPr lang="en-US" sz="1800" dirty="0"/>
          </a:p>
          <a:p>
            <a:pPr marL="0" indent="0">
              <a:buNone/>
            </a:pPr>
            <a:r>
              <a:rPr lang="en-US" sz="1300" dirty="0">
                <a:solidFill>
                  <a:srgbClr val="2B1A1D"/>
                </a:solidFill>
              </a:rPr>
              <a:t>One-year deadline tracker · programme rules (Econ/Bio caps, substitutions)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5669280" y="2926080"/>
            <a:ext cx="5943600" cy="1280160"/>
          </a:xfrm>
          <a:prstGeom prst="roundRect">
            <a:avLst>
              <a:gd name="adj" fmla="val 8571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6"/>
          <p:cNvSpPr/>
          <p:nvPr/>
        </p:nvSpPr>
        <p:spPr>
          <a:xfrm>
            <a:off x="5897880" y="3383280"/>
            <a:ext cx="365760" cy="365760"/>
          </a:xfrm>
          <a:prstGeom prst="ellipse">
            <a:avLst/>
          </a:prstGeom>
          <a:solidFill>
            <a:srgbClr val="C98A1B"/>
          </a:solidFill>
          <a:ln w="12700">
            <a:solidFill>
              <a:srgbClr val="C98A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7"/>
          <p:cNvSpPr txBox="1"/>
          <p:nvPr/>
        </p:nvSpPr>
        <p:spPr>
          <a:xfrm>
            <a:off x="6446520" y="292608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98A1B"/>
                </a:solidFill>
              </a:rPr>
              <a:t>Partial</a:t>
            </a:r>
            <a:endParaRPr lang="en-US" sz="1800" dirty="0"/>
          </a:p>
          <a:p>
            <a:pPr marL="0" indent="0">
              <a:buNone/>
            </a:pPr>
            <a:r>
              <a:rPr lang="en-US" sz="1300" dirty="0">
                <a:solidFill>
                  <a:srgbClr val="2B1A1D"/>
                </a:solidFill>
              </a:rPr>
              <a:t>Side-by-side course diff · one-to-many mappings · 5-credit lab rule (BU to confirm)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5669280" y="4389120"/>
            <a:ext cx="5943600" cy="1280160"/>
          </a:xfrm>
          <a:prstGeom prst="roundRect">
            <a:avLst>
              <a:gd name="adj" fmla="val 8571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>
            <a:off x="5897880" y="4846320"/>
            <a:ext cx="365760" cy="365760"/>
          </a:xfrm>
          <a:prstGeom prst="ellipse">
            <a:avLst/>
          </a:prstGeom>
          <a:solidFill>
            <a:srgbClr val="2F7D5B"/>
          </a:solidFill>
          <a:ln w="12700">
            <a:solidFill>
              <a:srgbClr val="2F7D5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0"/>
          <p:cNvSpPr txBox="1"/>
          <p:nvPr/>
        </p:nvSpPr>
        <p:spPr>
          <a:xfrm>
            <a:off x="6446520" y="438912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F7D5B"/>
                </a:solidFill>
              </a:rPr>
              <a:t>Built</a:t>
            </a:r>
            <a:endParaRPr lang="en-US" sz="1800" dirty="0"/>
          </a:p>
          <a:p>
            <a:pPr marL="0" indent="0">
              <a:buNone/>
            </a:pPr>
            <a:r>
              <a:rPr lang="en-US" sz="1300" dirty="0">
                <a:solidFill>
                  <a:srgbClr val="2B1A1D"/>
                </a:solidFill>
              </a:rPr>
              <a:t>Lanes, quarter 2/3, grade rules, BU caps, Hub, appeals, workflow, learning loop, degree progress, accuracy backtest, Maya demo data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have not proven yet, and what comes next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5A5D"/>
                </a:solidFill>
              </a:rPr>
              <a:t>TransferHub  ·  Clopay Code Crafters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proven yet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965960"/>
            <a:ext cx="53035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B1A1D"/>
                </a:solidFill>
              </a:rPr>
              <a:t>No Anthropic key yet: AI paths are unverified, the rules fallback carries the demo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B1A1D"/>
                </a:solidFill>
              </a:rPr>
              <a:t>No BU baseline for evaluator minutes or turnaround, so the saving is not yet quantified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B1A1D"/>
                </a:solidFill>
              </a:rPr>
              <a:t>SQL logic was written and reviewed but has no automated tests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B1A1D"/>
                </a:solidFill>
              </a:rPr>
              <a:t>Quarter rounding (2.66) follows the brief; BU to confirm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309360" y="141732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7708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309360" y="2011680"/>
            <a:ext cx="5303520" cy="658368"/>
          </a:xfrm>
          <a:prstGeom prst="roundRect">
            <a:avLst>
              <a:gd name="adj" fmla="val 16667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 txBox="1"/>
          <p:nvPr/>
        </p:nvSpPr>
        <p:spPr>
          <a:xfrm>
            <a:off x="6446520" y="2011680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6995160" y="2011680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B1A1D"/>
                </a:solidFill>
              </a:rPr>
              <a:t>Apply migrations and seeds, then rehearse the demo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309360" y="2788920"/>
            <a:ext cx="5303520" cy="658368"/>
          </a:xfrm>
          <a:prstGeom prst="roundRect">
            <a:avLst>
              <a:gd name="adj" fmla="val 16667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 txBox="1"/>
          <p:nvPr/>
        </p:nvSpPr>
        <p:spPr>
          <a:xfrm>
            <a:off x="6446520" y="2788920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6995160" y="2788920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B1A1D"/>
                </a:solidFill>
              </a:rPr>
              <a:t>Run the backtest on live data and publish the top-3 rate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309360" y="3566160"/>
            <a:ext cx="5303520" cy="658368"/>
          </a:xfrm>
          <a:prstGeom prst="roundRect">
            <a:avLst>
              <a:gd name="adj" fmla="val 16667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 txBox="1"/>
          <p:nvPr/>
        </p:nvSpPr>
        <p:spPr>
          <a:xfrm>
            <a:off x="6446520" y="3566160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6995160" y="3566160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B1A1D"/>
                </a:solidFill>
              </a:rPr>
              <a:t>Side-by-side course comparison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6309360" y="4343400"/>
            <a:ext cx="5303520" cy="658368"/>
          </a:xfrm>
          <a:prstGeom prst="roundRect">
            <a:avLst>
              <a:gd name="adj" fmla="val 16667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 txBox="1"/>
          <p:nvPr/>
        </p:nvSpPr>
        <p:spPr>
          <a:xfrm>
            <a:off x="6446520" y="4343400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995160" y="4343400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B1A1D"/>
                </a:solidFill>
              </a:rPr>
              <a:t>One-year deadline and programme rules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6309360" y="5120640"/>
            <a:ext cx="5303520" cy="658368"/>
          </a:xfrm>
          <a:prstGeom prst="roundRect">
            <a:avLst>
              <a:gd name="adj" fmla="val 16667"/>
            </a:avLst>
          </a:prstGeom>
          <a:solidFill>
            <a:srgbClr val="FDF2F3"/>
          </a:solidFill>
          <a:ln w="12700">
            <a:solidFill>
              <a:srgbClr val="FDF2F3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 txBox="1"/>
          <p:nvPr/>
        </p:nvSpPr>
        <p:spPr>
          <a:xfrm>
            <a:off x="6446520" y="5120640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22" name="Text 19"/>
          <p:cNvSpPr txBox="1"/>
          <p:nvPr/>
        </p:nvSpPr>
        <p:spPr>
          <a:xfrm>
            <a:off x="6995160" y="5120640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B1A1D"/>
                </a:solidFill>
              </a:rPr>
              <a:t>Turn on Claude and measure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3A04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731520" y="822960"/>
            <a:ext cx="1069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Faster for evaluators. Clearer for students. Final say stays with the department.</a:t>
            </a:r>
            <a:endParaRPr lang="en-US" sz="38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26517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D9A441"/>
                </a:solidFill>
              </a:rPr>
              <a:t>Live demo next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731520" y="3474720"/>
            <a:ext cx="1069848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3"/>
          <p:cNvSpPr txBox="1"/>
          <p:nvPr/>
        </p:nvSpPr>
        <p:spPr>
          <a:xfrm>
            <a:off x="8961120" y="3749040"/>
            <a:ext cx="2377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B1A1D"/>
                </a:solidFill>
              </a:rPr>
              <a:t>Raghuram Raichooti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B1A1D"/>
                </a:solidFill>
              </a:rPr>
              <a:t>Sankara Varaprasad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B1A1D"/>
                </a:solidFill>
              </a:rPr>
              <a:t>Swetha Katkkoori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B1A1D"/>
                </a:solidFill>
              </a:rPr>
              <a:t>Harshil Shah Parimal</a:t>
            </a:r>
            <a:endParaRPr lang="en-US" sz="15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757D85C-A828-452C-9639-6CCE25BEACC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292"/>
          <a:stretch>
            <a:fillRect/>
          </a:stretch>
        </p:blipFill>
        <p:spPr>
          <a:xfrm>
            <a:off x="1138687" y="3531223"/>
            <a:ext cx="6861420" cy="263019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ransferHub">
  <a:themeElements>
    <a:clrScheme name="TransferHub">
      <a:dk1>
        <a:srgbClr val="2B1A1D"/>
      </a:dk1>
      <a:lt1>
        <a:srgbClr val="FFFFFF"/>
      </a:lt1>
      <a:dk2>
        <a:srgbClr val="3A040B"/>
      </a:dk2>
      <a:lt2>
        <a:srgbClr val="FDF2F3"/>
      </a:lt2>
      <a:accent1>
        <a:srgbClr val="770816"/>
      </a:accent1>
      <a:accent2>
        <a:srgbClr val="D9A441"/>
      </a:accent2>
      <a:accent3>
        <a:srgbClr val="CF3A53"/>
      </a:accent3>
      <a:accent4>
        <a:srgbClr val="2F7D5B"/>
      </a:accent4>
      <a:accent5>
        <a:srgbClr val="5B6B8C"/>
      </a:accent5>
      <a:accent6>
        <a:srgbClr val="E8C9CD"/>
      </a:accent6>
      <a:hlink>
        <a:srgbClr val="770816"/>
      </a:hlink>
      <a:folHlink>
        <a:srgbClr val="5C0712"/>
      </a:folHlink>
    </a:clrScheme>
    <a:fontScheme name="TransferHub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1499</Words>
  <Application>Microsoft Office PowerPoint</Application>
  <PresentationFormat>Widescreen</PresentationFormat>
  <Paragraphs>220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Cambria</vt:lpstr>
      <vt:lpstr>TransferHub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TransferHub - Smarter Transfer Credit Evaluation</dc:title>
  <dc:subject>PptxGenJS Presentation</dc:subject>
  <dc:creator>Clopay Code Crafters</dc:creator>
  <cp:lastModifiedBy>Raghuram Raichooti</cp:lastModifiedBy>
  <cp:revision>3</cp:revision>
  <dcterms:created xsi:type="dcterms:W3CDTF">2026-10-27T08:25:18Z</dcterms:created>
  <dcterms:modified xsi:type="dcterms:W3CDTF">2026-10-27T14:33:07Z</dcterms:modified>
</cp:coreProperties>
</file>