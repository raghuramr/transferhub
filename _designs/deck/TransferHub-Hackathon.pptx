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7D5B"/>
              </a:solidFill>
              <a:effectLst/>
            </c:spPr>
          </c:dPt>
          <c:dPt>
            <c:idx val="1"/>
            <c:bubble3D val="0"/>
            <c:spPr>
              <a:solidFill>
                <a:srgbClr val="C98A1B"/>
              </a:solidFill>
              <a:effectLst/>
            </c:spPr>
          </c:dPt>
          <c:dPt>
            <c:idx val="2"/>
            <c:bubble3D val="0"/>
            <c:spPr>
              <a:solidFill>
                <a:srgbClr val="B3261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Built</c:v>
                </c:pt>
                <c:pt idx="1">
                  <c:v>Partial</c:v>
                </c:pt>
                <c:pt idx="2">
                  <c:v>Open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B1A1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faster for evaluators, clearer for students, and the department still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takes 800+ transfers a year. Courses without an equivalency show 0 units, students chase syllabi, evaluators compare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tests in the brief. Each has a concrete feature you can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Rules first, then known equivalencies, then AI or built-in rules, then the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Maya Rivera moves from Bay State Community College. Three known, two maybe, one quarter-system course converted 4 x 2/3 = 2.66.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 review: timeline, reviewer brief, ranked suggestions with rationale, one-click accept above a threshold, bulk approve in the queue.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Per-course lanes, timeline, internal vs student notes, nudge reminders, dashboards.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part nobody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API key yet, budget exhausted, or an outage: the built-in rules engine reads documents and suggests matches. One super-admin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 upload classifies and extracts. Intake channels all end at a confirm step before an account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Policy engine mirrors BU's published rules. Workflow engine is configured per university.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Multi-university master data, permissions matrix, partner API, dashboards, Azure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Shortlist is lexical and free. Cache means the same external course costs one call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Backtest: for each past decision (63), hide it from the matcher and ask whether the right BU course is in its top 1 or top 3. Built-in rules only, no AI key. Smoke suite ran against the live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compared every rule and ask in the design docs with the code. 20 built, 2 partial, 0 open (the partials: a faculty picker for several BU courses, and the 5-credit lab rule that needs an answer from BU). Full table in _designs/GAP_ANALYSIS.md.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no live Claude key, no BU baseline numbers. Plan to close the gaps.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promise and invite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04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48640"/>
            <a:ext cx="329184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TransferHub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3291840" cy="172821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468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Smarter Transfer Credit Evaluation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34747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9CD"/>
                </a:solidFill>
              </a:rPr>
              <a:t>From zero units and weeks of waiting to a clear status for every course, on day one.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441"/>
                </a:solidFill>
              </a:rPr>
              <a:t>Clopay Code Crafters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   ·   FDE AI Hackathon 5.0   ·   Problem 1 · Boston University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course, every student, one syllabus at a time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800+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transfer students a year at BU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64992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364992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units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547872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shown for every pending course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81344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181344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by 1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64224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manual syllabus comparisons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997696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997696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mo</a:t>
            </a:r>
            <a:endParaRPr lang="en-US" sz="4400" dirty="0"/>
          </a:p>
        </p:txBody>
      </p:sp>
      <p:sp>
        <p:nvSpPr>
          <p:cNvPr id="16" name="Text 13"/>
          <p:cNvSpPr txBox="1"/>
          <p:nvPr/>
        </p:nvSpPr>
        <p:spPr>
          <a:xfrm>
            <a:off x="9180576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to settle all credit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640080" cy="64008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8" name="Image 0" descr="Fi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4164178"/>
            <a:ext cx="358445" cy="35844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2588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1A1D"/>
                </a:solidFill>
              </a:rPr>
              <a:t>Students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48006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5A5D"/>
                </a:solidFill>
              </a:rPr>
              <a:t>Cannot tell what is happening, chase old syllabi, and do not know how much degree progress is secure.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4297680" y="4023360"/>
            <a:ext cx="640080" cy="64008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1" descr="FiClip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498" y="4164178"/>
            <a:ext cx="358445" cy="35844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7492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1A1D"/>
                </a:solidFill>
              </a:rPr>
              <a:t>Evaluators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4297680" y="48006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5A5D"/>
                </a:solidFill>
              </a:rPr>
              <a:t>Compare descriptions, outcomes and credit hours manually, again for every student.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8046720" y="4023360"/>
            <a:ext cx="640080" cy="64008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6" name="Image 2" descr="FiSh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7538" y="4164178"/>
            <a:ext cx="358445" cy="35844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82396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1A1D"/>
                </a:solidFill>
              </a:rPr>
              <a:t>Departments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8046720" y="48006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5A5D"/>
                </a:solidFill>
              </a:rPr>
              <a:t>Must keep the final say. Any tool may recommend, never decide.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asked for, and what we built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0992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7" name="Image 0" descr="FiZ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011" y="1842699"/>
            <a:ext cx="337962" cy="33796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463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150876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Every course triaged into a lane at upload. Known equivalencies apply instantly. Everything else arrives pre-ranked with reasons. Decisions feed back so the next student is instant.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294436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2" name="Image 1" descr="Fi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11" y="3077139"/>
            <a:ext cx="337962" cy="33796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26974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transparent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743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Per-course status, an animated timeline, notes, reminders and role dashboards replace "0 units".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17880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7" name="Image 2" descr="Fi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011" y="4311579"/>
            <a:ext cx="337962" cy="3379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39319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stressful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0" y="397764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Syllabi are asked for only where they matter. Applicants get a preview before admission. Documents are read for them.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77240" y="541324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3" descr="Fi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11" y="5546019"/>
            <a:ext cx="337962" cy="33796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45920" y="51663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decides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4572000" y="52120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Configurable approval stages. AI and rules never reject and never exceed 70% confidence on their own.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 from upload to posting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14984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7" name="Image 0" descr="FiUp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918" y="2172614"/>
            <a:ext cx="409651" cy="4096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Upload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Transcript or documents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194560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11" name="Shape 7"/>
          <p:cNvSpPr/>
          <p:nvPr/>
        </p:nvSpPr>
        <p:spPr>
          <a:xfrm>
            <a:off x="2432304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898648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3" name="Image 1" descr="FiSlid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9582" y="2172614"/>
            <a:ext cx="409651" cy="40965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432304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Rules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523744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Grade, credits, age, caps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4078224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17" name="Shape 12"/>
          <p:cNvSpPr/>
          <p:nvPr/>
        </p:nvSpPr>
        <p:spPr>
          <a:xfrm>
            <a:off x="4315968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782312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9" name="Image 2" descr="Fi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3246" y="2172614"/>
            <a:ext cx="409651" cy="409651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315968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Equivalency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4407408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Known match applies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5961888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23" name="Shape 17"/>
          <p:cNvSpPr/>
          <p:nvPr/>
        </p:nvSpPr>
        <p:spPr>
          <a:xfrm>
            <a:off x="6199632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665976" y="201168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5" name="Image 3" descr="FiCp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6910" y="2172614"/>
            <a:ext cx="409651" cy="40965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199632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Match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6291072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C9CD"/>
                </a:solidFill>
              </a:rPr>
              <a:t>AI or built-in rules rank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7845552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29" name="Shape 22"/>
          <p:cNvSpPr/>
          <p:nvPr/>
        </p:nvSpPr>
        <p:spPr>
          <a:xfrm>
            <a:off x="8083296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549640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1" name="Image 4" descr="FiUser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0574" y="2172614"/>
            <a:ext cx="409651" cy="40965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083296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People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174736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Faculty to final approver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9729216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35" name="Shape 27"/>
          <p:cNvSpPr/>
          <p:nvPr/>
        </p:nvSpPr>
        <p:spPr>
          <a:xfrm>
            <a:off x="9966960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10433304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7" name="Image 5" descr="FiFl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4238" y="2172614"/>
            <a:ext cx="409651" cy="409651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966960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Posted</a:t>
            </a:r>
            <a:endParaRPr lang="en-US" sz="1800" dirty="0"/>
          </a:p>
        </p:txBody>
      </p:sp>
      <p:sp>
        <p:nvSpPr>
          <p:cNvPr id="39" name="Text 30"/>
          <p:cNvSpPr txBox="1"/>
          <p:nvPr/>
        </p:nvSpPr>
        <p:spPr>
          <a:xfrm>
            <a:off x="10058400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Grade T, student notified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2960" y="46177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The learning loop.  </a:t>
            </a:r>
            <a:pPr indent="0" marL="0">
              <a:buNone/>
            </a:pPr>
            <a:r>
              <a:rPr lang="en-US" sz="1700" dirty="0">
                <a:solidFill>
                  <a:srgbClr val="2B1A1D"/>
                </a:solidFill>
              </a:rPr>
              <a:t>Every approved decision is saved as a reusable equivalency with effective dates, and AI results are cached across students, so the second student with the same course never waits.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six-course story, upload to posting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External course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371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Lane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What the student sees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17830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110  Intro to Programming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120640" y="1901952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0" y="19019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17830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CS 111 · 4 cr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2496312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2960" y="2496312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MAT 210  Calculus I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120640" y="2615184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0640" y="261518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0" y="2496312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MA 123 · 4 cr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3209544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320954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ECO 101  Microeconomics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120640" y="3328416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120640" y="33284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320954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EC 101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48640" y="3922776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22960" y="392277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220  Data Structures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5120640" y="4041648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20640" y="404164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Likely match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315200" y="392277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Suggested CS 112 · pending CS dept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48640" y="4636008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22960" y="463600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240  Discrete Math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5120640" y="475488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120640" y="47548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Needs syllabus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15200" y="463600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CS 131 or MA 293 · evaluator picks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548640" y="534924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822960" y="534924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CIS 150  Linear Algebra (quarter)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5120640" y="5468112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20640" y="5468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 qtr → 2.66 cr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315200" y="534924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Elective or MA 242 · evaluator decides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Result: 12 credits secure at upload, three pending items each with a named next step.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Evaluators: everything in one place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pic>
        <p:nvPicPr>
          <p:cNvPr id="5" name="Request review screenshot" descr="Request review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58952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841248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 brief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180136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Policy flags, credit math and Hub rule, generated for free.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41248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suggestions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29900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Each with a plain-language reason. One click accepts all above X%.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412480" y="3794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in bulk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417880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Queue-level approve for clean requests.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4983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overridable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8412480" y="53675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Faculty can change any match by hand.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Students: no more black box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pic>
        <p:nvPicPr>
          <p:cNvPr id="5" name="Student dashboard screenshot" descr="Student dashbo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25880"/>
            <a:ext cx="722376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7" name="Image 1" descr="Fi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1538021"/>
            <a:ext cx="307238" cy="30723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8016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every course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176479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Status and next action per course.</a:t>
            </a:r>
            <a:endParaRPr lang="en-US" sz="1400" dirty="0"/>
          </a:p>
        </p:txBody>
      </p:sp>
      <p:sp>
        <p:nvSpPr>
          <p:cNvPr id="10" name="Shape 5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1" name="Image 2" descr="Fi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2726741"/>
            <a:ext cx="307238" cy="30723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timeline</a:t>
            </a:r>
            <a:endParaRPr lang="en-US" sz="1800" dirty="0"/>
          </a:p>
        </p:txBody>
      </p:sp>
      <p:sp>
        <p:nvSpPr>
          <p:cNvPr id="13" name="Text 7"/>
          <p:cNvSpPr txBox="1"/>
          <p:nvPr/>
        </p:nvSpPr>
        <p:spPr>
          <a:xfrm>
            <a:off x="1280160" y="29535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Which stage, who owns it, how long.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5" name="Image 3" descr="FiBel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3915461"/>
            <a:ext cx="307238" cy="30723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80160" y="3794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Nudge</a:t>
            </a:r>
            <a:endParaRPr lang="en-US" sz="1800" dirty="0"/>
          </a:p>
        </p:txBody>
      </p:sp>
      <p:sp>
        <p:nvSpPr>
          <p:cNvPr id="17" name="Text 10"/>
          <p:cNvSpPr txBox="1"/>
          <p:nvPr/>
        </p:nvSpPr>
        <p:spPr>
          <a:xfrm>
            <a:off x="1280160" y="4142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Ask for an update, rate-limited.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498348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9" name="Image 4" descr="FiFileTex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5104181"/>
            <a:ext cx="307238" cy="30723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80160" y="4983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needed syllabi</a:t>
            </a:r>
            <a:endParaRPr lang="en-US" sz="1800" dirty="0"/>
          </a:p>
        </p:txBody>
      </p:sp>
      <p:sp>
        <p:nvSpPr>
          <p:cNvPr id="21" name="Text 13"/>
          <p:cNvSpPr txBox="1"/>
          <p:nvPr/>
        </p:nvSpPr>
        <p:spPr>
          <a:xfrm>
            <a:off x="1280160" y="53309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And why each one matters.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04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ask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What turns an evaluator tool into a platform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 keeps working when AI is off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0876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Cheap model first, stronger one only when unsure. Reads PDFs and photos, ranks matches.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97180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A04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301752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040B"/>
                </a:solidFill>
              </a:rPr>
              <a:t>Built-in rules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3A040B"/>
                </a:solidFill>
              </a:rPr>
              <a:t>Zero tokens. Reads text PDFs, classifies, extracts fields, ranks courses by title, topic, code and credits. Capped at 70% confidence.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48056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452628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1A1D"/>
                </a:solidFill>
              </a:rPr>
              <a:t>Human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Faculty and students can always edit or override. Nothing is ever auto-rejected.</a:t>
            </a:r>
            <a:endParaRPr lang="en-US" sz="2000" dirty="0"/>
          </a:p>
        </p:txBody>
      </p:sp>
      <p:pic>
        <p:nvPicPr>
          <p:cNvPr id="14" name="AI Controls screenshot" descr="AI Control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463040"/>
            <a:ext cx="4297680" cy="448056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sp>
        <p:nvSpPr>
          <p:cNvPr id="15" name="Text 11"/>
          <p:cNvSpPr txBox="1"/>
          <p:nvPr/>
        </p:nvSpPr>
        <p:spPr>
          <a:xfrm>
            <a:off x="548640" y="5989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A5D"/>
                </a:solidFill>
              </a:rPr>
              <a:t>Falls through automatically: key missing, switch off, budget used, or API error.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Reads the documents. Gets students in five ways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pic>
        <p:nvPicPr>
          <p:cNvPr id="5" name="Smart upload screenshot" descr="Smart uploa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394960" cy="338328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pic>
        <p:nvPicPr>
          <p:cNvPr id="6" name="Intake lookup screenshot" descr="Intake lookup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25880"/>
            <a:ext cx="5394960" cy="338328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3152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9" name="Image 2" descr="FiUser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5378501"/>
            <a:ext cx="307238" cy="30723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37160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Self-register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278892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6"/>
          <p:cNvSpPr/>
          <p:nvPr/>
        </p:nvSpPr>
        <p:spPr>
          <a:xfrm>
            <a:off x="297180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3" name="Image 3" descr="FiMa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501" y="5378501"/>
            <a:ext cx="307238" cy="30723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61188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Email link</a:t>
            </a:r>
            <a:endParaRPr lang="en-US" sz="1400" dirty="0"/>
          </a:p>
        </p:txBody>
      </p:sp>
      <p:sp>
        <p:nvSpPr>
          <p:cNvPr id="15" name="Shape 8"/>
          <p:cNvSpPr/>
          <p:nvPr/>
        </p:nvSpPr>
        <p:spPr>
          <a:xfrm>
            <a:off x="502920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9"/>
          <p:cNvSpPr/>
          <p:nvPr/>
        </p:nvSpPr>
        <p:spPr>
          <a:xfrm>
            <a:off x="521208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7" name="Image 4" descr="FiGr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2781" y="5378501"/>
            <a:ext cx="307238" cy="30723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85216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QR code</a:t>
            </a:r>
            <a:endParaRPr lang="en-US" sz="1400" dirty="0"/>
          </a:p>
        </p:txBody>
      </p:sp>
      <p:sp>
        <p:nvSpPr>
          <p:cNvPr id="19" name="Shape 11"/>
          <p:cNvSpPr/>
          <p:nvPr/>
        </p:nvSpPr>
        <p:spPr>
          <a:xfrm>
            <a:off x="726948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745236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1" name="Image 5" descr="Fi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3061" y="5378501"/>
            <a:ext cx="307238" cy="30723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09244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Registrar profile</a:t>
            </a:r>
            <a:endParaRPr lang="en-US" sz="1400" dirty="0"/>
          </a:p>
        </p:txBody>
      </p:sp>
      <p:sp>
        <p:nvSpPr>
          <p:cNvPr id="23" name="Shape 14"/>
          <p:cNvSpPr/>
          <p:nvPr/>
        </p:nvSpPr>
        <p:spPr>
          <a:xfrm>
            <a:off x="950976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15"/>
          <p:cNvSpPr/>
          <p:nvPr/>
        </p:nvSpPr>
        <p:spPr>
          <a:xfrm>
            <a:off x="969264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5" name="Image 6" descr="FiUploadClou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3341" y="5378501"/>
            <a:ext cx="307238" cy="307238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033272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Agency bulk API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BU's actual rules, enforced and explained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417320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Credit cap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68 transfer / 60 first-year / 80 MET, incl. AP, IB, A-level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313432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313432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Grades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C or better. P/F and S/U go to review, with exceptions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209544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3209544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Age and accreditation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Over 5 years or unaccredited goes to review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105656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105656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Not eligible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Internships, research, military and life experience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5001768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00176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Hub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Transfer courses never satisfy it. Always stated</a:t>
            </a:r>
            <a:endParaRPr lang="en-US" sz="1400" dirty="0"/>
          </a:p>
        </p:txBody>
      </p:sp>
      <p:pic>
        <p:nvPicPr>
          <p:cNvPr id="15" name="Workflow designer screenshot" descr="Workflow designer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5394960" cy="420624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sp>
        <p:nvSpPr>
          <p:cNvPr id="16" name="Text 12"/>
          <p:cNvSpPr txBox="1"/>
          <p:nvPr/>
        </p:nvSpPr>
        <p:spPr>
          <a:xfrm>
            <a:off x="630936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A5D"/>
                </a:solidFill>
              </a:rPr>
              <a:t>Stages, owners, SLAs, auto-approve, bypass and appeals are configured per university.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as a platform, not a prototype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7" name="Image 0" descr="Fi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8223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Multi-university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Universities, programs, courses and topics, shared many-to-many with per-university switches.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29768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26280" y="169164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2" name="Image 1" descr="Fi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182239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5780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permissions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628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Role by module by operation matrix, enforced on every change. Admins are scoped to their universities.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04672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5320" y="169164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7" name="Image 2" descr="Fi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6079" y="18223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0684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 API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7532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Hashed keys, Excel templates, a review queue and per-row email reports.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77240" y="406908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3" descr="FiBarChart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" y="4199839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69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Dashboards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0060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Animated analytics for every role, on desktop and mobile.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429768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26280" y="406908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7" name="Image 4" descr="FiClo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7039" y="4199839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57800" y="4069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Azure-ready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4526280" y="480060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App Service, Azure SQL, Blob storage, GitHub Actions deploy.</a:t>
            </a:r>
            <a:endParaRPr lang="en-US" sz="1400" dirty="0"/>
          </a:p>
        </p:txBody>
      </p:sp>
      <p:sp>
        <p:nvSpPr>
          <p:cNvPr id="30" name="Shape 22"/>
          <p:cNvSpPr/>
          <p:nvPr/>
        </p:nvSpPr>
        <p:spPr>
          <a:xfrm>
            <a:off x="804672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275320" y="406908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2" name="Image 5" descr="FiRepe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6079" y="4199839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06840" y="4069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Two-university exchange</a:t>
            </a:r>
            <a:endParaRPr lang="en-US" sz="1900" dirty="0"/>
          </a:p>
        </p:txBody>
      </p:sp>
      <p:sp>
        <p:nvSpPr>
          <p:cNvPr id="34" name="Text 25"/>
          <p:cNvSpPr txBox="1"/>
          <p:nvPr/>
        </p:nvSpPr>
        <p:spPr>
          <a:xfrm>
            <a:off x="8275320" y="480060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Source and target both see each transfer, request and upload documents into the student folder, and remind each other.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 to run: every token has to earn its place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4173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</a:rPr>
              <a:t>Lexical shortlist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Catalogue ranked locally, only top N sent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3774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</a:rPr>
              <a:t>Cross-student cache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Same course, one model call, ever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3337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</a:rPr>
              <a:t>Cheap model first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Escalate only when unsure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438912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976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</a:rPr>
              <a:t>Prompt caching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Playbook reused across calls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48640" y="534924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5349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52578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</a:rPr>
              <a:t>Budgets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Monthly and per-request caps, then fallback to rules</a:t>
            </a:r>
            <a:endParaRPr lang="en-US" sz="1900" dirty="0"/>
          </a:p>
        </p:txBody>
      </p:sp>
      <p:pic>
        <p:nvPicPr>
          <p:cNvPr id="20" name="Dashboard screenshot" descr="Dashbo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371600"/>
            <a:ext cx="4937760" cy="43891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96.8%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right BU course in the top 3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297680" y="1645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88.9%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right BU course ranked first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04672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46720" y="1645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04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60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past decisions tested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977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Live smoke test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39 of 40 checks pass on the deployed app, 1 skipped (a write check), 0 failed: logins for all five roles, dashboards, the Maya scenario with the 2.66 quarter conversion, transfers, backtest, permissions and role checks.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Database checks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243 SQL checks pass and all 11 triage contract cases pass, including the quarter 2.66 rule and "must be taken at BU".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What this is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 hold-out test of the built-in rules matcher on past equivalencies. The same harness will score Claude once the key arrives.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Scorecard: 22 requirements vs. the code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47548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5669280" y="146304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897880" y="1920240"/>
            <a:ext cx="365760" cy="365760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46520" y="14630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261E"/>
                </a:solidFill>
              </a:rPr>
              <a:t>Open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No requirement is left open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669280" y="292608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897880" y="3383280"/>
            <a:ext cx="365760" cy="36576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46520" y="29260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8A1B"/>
                </a:solidFill>
              </a:rPr>
              <a:t>Partial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Faculty screen to pick several BU courses for one external course (API ready) · 5-credit lab rule (BU to answer)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669280" y="438912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897880" y="4846320"/>
            <a:ext cx="365760" cy="365760"/>
          </a:xfrm>
          <a:prstGeom prst="ellipse">
            <a:avLst/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7D5B"/>
                </a:solidFill>
              </a:rPr>
              <a:t>Built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Lanes, quarter 2/3, grades, BU caps, Hub, appeals, workflow, learning loop, degree progress, side-by-side compare, programme rules, exam credit, one-year deadline, accuracy backtest, repeatable demo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have not proven yet, and what comes next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proven yet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No Anthropic key yet: AI paths are unverified, the rules fallback carries the demo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No BU baseline for evaluator minutes or turnaround, so the saving is not yet quantified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No API integration tests yet; coverage is unit tests, an HTTP smoke suite and SQL contract tests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Quarter rounding (2.66) follows the brief; BU to confirm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417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309360" y="201168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46520" y="20116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995160" y="201168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Rehearse the demo from the Demo scenario page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309360" y="278892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46520" y="27889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78892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Get BU answers: 5-credit lab rule, rounding, AP/IB minimums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09360" y="356616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46520" y="356616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356616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Faculty screen for one-to-many course mappings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09360" y="434340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46520" y="43434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3434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Turn on Claude and re-run the same backtest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309360" y="512064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46520" y="512064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512064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Measure evaluator minutes against a BU baseline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A04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82296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for evaluators. Clearer for students. Final say stays with the department.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651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A441"/>
                </a:solidFill>
              </a:rPr>
              <a:t>Live demo next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731520" y="3474720"/>
            <a:ext cx="106984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Clopay Code Crafters te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3657600"/>
            <a:ext cx="6766560" cy="249240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37490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Raghuram Raichooti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Sankara Varaprasad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Swetha Katkkoori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Harshil Shah Parimal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nsferHub">
  <a:themeElements>
    <a:clrScheme name="TransferHub">
      <a:dk1>
        <a:srgbClr val="2B1A1D"/>
      </a:dk1>
      <a:lt1>
        <a:srgbClr val="FFFFFF"/>
      </a:lt1>
      <a:dk2>
        <a:srgbClr val="3A040B"/>
      </a:dk2>
      <a:lt2>
        <a:srgbClr val="FDF2F3"/>
      </a:lt2>
      <a:accent1>
        <a:srgbClr val="770816"/>
      </a:accent1>
      <a:accent2>
        <a:srgbClr val="D9A441"/>
      </a:accent2>
      <a:accent3>
        <a:srgbClr val="CF3A53"/>
      </a:accent3>
      <a:accent4>
        <a:srgbClr val="2F7D5B"/>
      </a:accent4>
      <a:accent5>
        <a:srgbClr val="5B6B8C"/>
      </a:accent5>
      <a:accent6>
        <a:srgbClr val="E8C9CD"/>
      </a:accent6>
      <a:hlink>
        <a:srgbClr val="770816"/>
      </a:hlink>
      <a:folHlink>
        <a:srgbClr val="5C0712"/>
      </a:folHlink>
    </a:clrScheme>
    <a:fontScheme name="TransferHu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TransferHub - Smarter Transfer Credit Evaluation</dc:title>
  <dc:subject>PptxGenJS Presentation</dc:subject>
  <dc:creator>Clopay Code Crafters</dc:creator>
  <cp:lastModifiedBy>Clopay Code Crafters</cp:lastModifiedBy>
  <cp:revision>1</cp:revision>
  <dcterms:created xsi:type="dcterms:W3CDTF">2026-10-27T12:58:54Z</dcterms:created>
  <dcterms:modified xsi:type="dcterms:W3CDTF">2026-10-27T12:58:54Z</dcterms:modified>
</cp:coreProperties>
</file>