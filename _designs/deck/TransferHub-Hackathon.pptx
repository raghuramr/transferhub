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7D5B"/>
              </a:solidFill>
              <a:effectLst/>
            </c:spPr>
          </c:dPt>
          <c:dPt>
            <c:idx val="1"/>
            <c:bubble3D val="0"/>
            <c:spPr>
              <a:solidFill>
                <a:srgbClr val="C98A1B"/>
              </a:solidFill>
              <a:effectLst/>
            </c:spPr>
          </c:dPt>
          <c:dPt>
            <c:idx val="2"/>
            <c:bubble3D val="0"/>
            <c:spPr>
              <a:solidFill>
                <a:srgbClr val="B3261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Built</c:v>
                </c:pt>
                <c:pt idx="1">
                  <c:v>Partial</c:v>
                </c:pt>
                <c:pt idx="2">
                  <c:v>Open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1A1D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faster for evaluators, clearer for students, and the department still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takes 800+ transfers a year. Courses without an equivalency show 0 units, students chase syllabi, evaluators compare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tests in the brief. Each has a concrete feature you can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Rules first, then known equivalencies, then AI or built-in rules, then the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Maya Rivera moves from Bay State Community College. Three known, two maybe, one quarter-system course converted 4 x 2/3 = 2.66.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review: timeline, reviewer brief, ranked suggestions with rationale, one-click accept above a threshold, bulk approve in the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Per-course lanes, timeline, internal vs student notes, nudge reminders, dashboards.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nobody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API key yet, budget exhausted, or an outage: the built-in rules engine reads documents and suggests matches. One super-admin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upload classifies and extracts. Intake channels all end at a confirm step before an account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 engine mirrors BU's published rules. Workflow engine is configured per university.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Multi-university master data, permissions matrix, partner API, dashboards, Azure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Shortlist is lexical and free. Cache means the same external course costs one call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compared every rule and ask in the design docs with the code. 14 built, 5 partial, 3 open. Full table in _designs/GAP_ANALYSIS.md.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no live Claude key, no BU baseline numbers. Plan to close the gaps.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promise and invite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29184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TransferHub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3291840" cy="172821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Smarter Transfer Credit Evaluation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4747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C9CD"/>
                </a:solidFill>
              </a:rPr>
              <a:t>From zero units and weeks of waiting to a clear status for every course, on day one.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 Crafters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   ·   FDE AI Hackathon 5.0   ·   Problem 1 · Boston University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course, every student, one syllabus at a time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800+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transfer students a year at BU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64992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3364992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units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shown for every pending course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81344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181344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 1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64224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manual syllabus comparisons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97696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997696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9180576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to settle all credit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8" name="Image 0" descr="Fi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458" y="4164178"/>
            <a:ext cx="358445" cy="35844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Students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Cannot tell what is happening, chase old syllabi, and do not know how much degree progress is secure.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29768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1" descr="FiClip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498" y="4164178"/>
            <a:ext cx="358445" cy="35844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7492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Evaluators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429768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Compare descriptions, outcomes and credit hours manually, again for every student.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04672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6" name="Image 2" descr="FiSh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7538" y="4164178"/>
            <a:ext cx="358445" cy="35844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2396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Departments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5A5D"/>
                </a:solidFill>
              </a:rPr>
              <a:t>Must keep the final say. Any tool may recommend, never decide.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asked for, and what we built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0992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011" y="1842699"/>
            <a:ext cx="337962" cy="3379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463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150876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Every course triaged into a lane at upload. Known equivalencies apply instantly. Everything else arrives pre-ranked with reasons. Decisions feed back so the next student is instant.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294436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1" descr="Fi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11" y="3077139"/>
            <a:ext cx="337962" cy="3379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26974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transparent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743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Per-course status, an animated timeline, notes, reminders and role dashboards replace "0 units".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17880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2" descr="Fi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11" y="4311579"/>
            <a:ext cx="337962" cy="3379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39319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stressful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39776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Syllabi are asked for only where they matter. Applicants get a preview before admission. Documents are read for them.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541324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3" descr="Fi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11" y="5546019"/>
            <a:ext cx="337962" cy="33796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45920" y="51663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0" y="52120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Configurable approval stages. AI and rules never reject and never exceed 70% confidence on their own.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from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498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Up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172614"/>
            <a:ext cx="409651" cy="4096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Upload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Transcript or documents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194560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2432304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898648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3" name="Image 1" descr="FiSlid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9582" y="2172614"/>
            <a:ext cx="409651" cy="4096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432304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Rules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523744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Grade, credits, age, caps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078224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7" name="Shape 12"/>
          <p:cNvSpPr/>
          <p:nvPr/>
        </p:nvSpPr>
        <p:spPr>
          <a:xfrm>
            <a:off x="4315968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782312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9" name="Image 2" descr="FiCheck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3246" y="2172614"/>
            <a:ext cx="409651" cy="40965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315968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Equivalency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4407408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Known match applies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961888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3" name="Shape 17"/>
          <p:cNvSpPr/>
          <p:nvPr/>
        </p:nvSpPr>
        <p:spPr>
          <a:xfrm>
            <a:off x="6199632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665976" y="201168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pic>
        <p:nvPicPr>
          <p:cNvPr id="25" name="Image 3" descr="FiCp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6910" y="2172614"/>
            <a:ext cx="409651" cy="40965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199632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Match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6291072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C9CD"/>
                </a:solidFill>
              </a:rPr>
              <a:t>AI or built-in rules rank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7845552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9" name="Shape 22"/>
          <p:cNvSpPr/>
          <p:nvPr/>
        </p:nvSpPr>
        <p:spPr>
          <a:xfrm>
            <a:off x="8083296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549640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1" name="Image 4" descr="FiUs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0574" y="2172614"/>
            <a:ext cx="409651" cy="40965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83296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People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174736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Faculty to final approver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9729216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35" name="Shape 27"/>
          <p:cNvSpPr/>
          <p:nvPr/>
        </p:nvSpPr>
        <p:spPr>
          <a:xfrm>
            <a:off x="996696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1043330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7" name="Image 5" descr="Fi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4238" y="2172614"/>
            <a:ext cx="409651" cy="4096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96696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70816"/>
                </a:solidFill>
              </a:rPr>
              <a:t>Posted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1005840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5A5D"/>
                </a:solidFill>
              </a:rPr>
              <a:t>Grade T, student notified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296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70816"/>
                </a:solidFill>
              </a:rPr>
              <a:t>The learning loop.  </a:t>
            </a:r>
            <a:pPr indent="0" marL="0">
              <a:buNone/>
            </a:pPr>
            <a:r>
              <a:rPr lang="en-US" sz="1700" dirty="0">
                <a:solidFill>
                  <a:srgbClr val="2B1A1D"/>
                </a:solidFill>
              </a:rPr>
              <a:t>Every approved decision is saved as a reusable equivalency with effective dates, and AI results are cached across students, so the second student with the same course never waits.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six-course story,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2296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120640" y="190195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0" y="19019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CS 111 · 4 cr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4963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296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120640" y="2615184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0640" y="26151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MA 123 · 4 cr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0954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120640" y="3328416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20640" y="33284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BU EC 101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48640" y="392277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2296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120640" y="4041648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20640" y="40416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Suggested CS 112 · pending CS dept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63600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2296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120640" y="47548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20640" y="4754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534924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82296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120640" y="546811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20640" y="5468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31520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Elective or MA 242 · evaluator decides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70816"/>
                </a:solidFill>
              </a:rPr>
              <a:t>Result: 12 credits secure at upload, three pending items each with a named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Evaluators: everything in one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Request review screenshot" descr="Request review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58952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841248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brief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180136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Policy flags, credit math and Hub rule, generated for free.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suggestions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9900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Each with a plain-language reason. One click accepts all above X%.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3794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in bulk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417880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Queue-level approve for clean requests.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4983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overridable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53675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can change any match by hand.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Students: no more black box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tudent dashboard screenshot" descr="Student 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25880"/>
            <a:ext cx="7223760" cy="48463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1" descr="Fi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1538021"/>
            <a:ext cx="307238" cy="30723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801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every course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176479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Status and next action per course.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1" name="Image 2" descr="Fi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2726741"/>
            <a:ext cx="307238" cy="30723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timeline</a:t>
            </a:r>
            <a:endParaRPr lang="en-US" sz="1800" dirty="0"/>
          </a:p>
        </p:txBody>
      </p:sp>
      <p:sp>
        <p:nvSpPr>
          <p:cNvPr id="13" name="Text 7"/>
          <p:cNvSpPr txBox="1"/>
          <p:nvPr/>
        </p:nvSpPr>
        <p:spPr>
          <a:xfrm>
            <a:off x="1280160" y="29535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Which stage, who owns it, how long.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5" name="Image 3" descr="FiBel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3915461"/>
            <a:ext cx="307238" cy="30723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3794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Nudge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80160" y="4142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Ask for an update, rate-limited.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9" name="Image 4" descr="FiFileTex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5104181"/>
            <a:ext cx="307238" cy="30723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needed syllabi</a:t>
            </a:r>
            <a:endParaRPr lang="en-US" sz="1800" dirty="0"/>
          </a:p>
        </p:txBody>
      </p:sp>
      <p:sp>
        <p:nvSpPr>
          <p:cNvPr id="21" name="Text 13"/>
          <p:cNvSpPr txBox="1"/>
          <p:nvPr/>
        </p:nvSpPr>
        <p:spPr>
          <a:xfrm>
            <a:off x="1280160" y="53309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And why each one matters.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ask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</a:rPr>
              <a:t>What turns an evaluator tool into a platform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keeps working when AI is off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0876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Cheap model first, stronger one only when unsure. Reads PDFs and photos, ranks matches.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97180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01752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040B"/>
                </a:solidFill>
              </a:rPr>
              <a:t>Built-in rules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3A040B"/>
                </a:solidFill>
              </a:rPr>
              <a:t>Zero tokens. Reads text PDFs, classifies, extracts fields, ranks courses by title, topic, code and credits. Capped at 70% confidence.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48056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B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52628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B1A1D"/>
                </a:solidFill>
              </a:rPr>
              <a:t>Human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and students can always edit or override. Nothing is ever auto-rejected.</a:t>
            </a:r>
            <a:endParaRPr lang="en-US" sz="2000" dirty="0"/>
          </a:p>
        </p:txBody>
      </p:sp>
      <p:pic>
        <p:nvPicPr>
          <p:cNvPr id="14" name="AI Controls screenshot" descr="AI Control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463040"/>
            <a:ext cx="4297680" cy="448056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15" name="Text 11"/>
          <p:cNvSpPr txBox="1"/>
          <p:nvPr/>
        </p:nvSpPr>
        <p:spPr>
          <a:xfrm>
            <a:off x="548640" y="5989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A5D"/>
                </a:solidFill>
              </a:rPr>
              <a:t>Falls through automatically: key missing, switch off, budget used, or API error.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documents. Gets students in five ways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mart upload screenshot" descr="Smart uploa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394960" cy="338328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pic>
        <p:nvPicPr>
          <p:cNvPr id="6" name="Intake lookup screenshot" descr="Intake lookup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25880"/>
            <a:ext cx="5394960" cy="338328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9" name="Image 2" descr="FiUserPl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5378501"/>
            <a:ext cx="307238" cy="30723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7160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Self-register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278892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6"/>
          <p:cNvSpPr/>
          <p:nvPr/>
        </p:nvSpPr>
        <p:spPr>
          <a:xfrm>
            <a:off x="297180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3" name="Image 3" descr="FiM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501" y="5378501"/>
            <a:ext cx="307238" cy="30723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61188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Email link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502920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9"/>
          <p:cNvSpPr/>
          <p:nvPr/>
        </p:nvSpPr>
        <p:spPr>
          <a:xfrm>
            <a:off x="521208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4" descr="FiGr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2781" y="5378501"/>
            <a:ext cx="307238" cy="30723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85216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QR code</a:t>
            </a:r>
            <a:endParaRPr lang="en-US" sz="1400" dirty="0"/>
          </a:p>
        </p:txBody>
      </p:sp>
      <p:sp>
        <p:nvSpPr>
          <p:cNvPr id="19" name="Shape 11"/>
          <p:cNvSpPr/>
          <p:nvPr/>
        </p:nvSpPr>
        <p:spPr>
          <a:xfrm>
            <a:off x="726948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745236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1" name="Image 5" descr="Fi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3061" y="5378501"/>
            <a:ext cx="307238" cy="30723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09244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Registrar profile</a:t>
            </a:r>
            <a:endParaRPr lang="en-US" sz="1400" dirty="0"/>
          </a:p>
        </p:txBody>
      </p:sp>
      <p:sp>
        <p:nvSpPr>
          <p:cNvPr id="23" name="Shape 14"/>
          <p:cNvSpPr/>
          <p:nvPr/>
        </p:nvSpPr>
        <p:spPr>
          <a:xfrm>
            <a:off x="950976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5"/>
          <p:cNvSpPr/>
          <p:nvPr/>
        </p:nvSpPr>
        <p:spPr>
          <a:xfrm>
            <a:off x="969264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5" name="Image 6" descr="FiUploadClou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3341" y="5378501"/>
            <a:ext cx="307238" cy="30723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33272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1A1D"/>
                </a:solidFill>
              </a:rPr>
              <a:t>Agency bulk API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BU's actual rules, enforced and explained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417320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Credit cap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68 transfer / 60 first-year / 80 MET, incl. AP, IB, A-level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13432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313432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Grades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 or better. P/F and S/U go to review, with exceptions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209544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209544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Age and accreditation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Over 5 years or unaccredited goes to review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05656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77240" y="4105656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Not eligible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Internships, research, military and life experience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5001768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77240" y="500176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70816"/>
                </a:solidFill>
              </a:rPr>
              <a:t>Hub  </a:t>
            </a:r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Transfer courses never satisfy it. Always stated</a:t>
            </a:r>
            <a:endParaRPr lang="en-US" sz="1400" dirty="0"/>
          </a:p>
        </p:txBody>
      </p:sp>
      <p:pic>
        <p:nvPicPr>
          <p:cNvPr id="15" name="Workflow designer screenshot" descr="Workflow designer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5394960" cy="420624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  <p:sp>
        <p:nvSpPr>
          <p:cNvPr id="16" name="Text 12"/>
          <p:cNvSpPr txBox="1"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A5D"/>
                </a:solidFill>
              </a:rPr>
              <a:t>Stages, owners, SLAs, auto-approve, bypass and appeals are configured per university.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platform, not a prototype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7" name="Image 0" descr="Fi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Multi-university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Universities, programs, courses and topics, shared many-to-many with per-university switches.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2628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2" name="Image 1" descr="Fi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82239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permissions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Role by module by operation matrix, enforced on every change. Admins are scoped to their universities.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04672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7532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17" name="Image 2" descr="Fi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8223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0684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API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Hashed keys, Excel templates, a review queue and per-row email reports.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2" name="Image 3" descr="FiBarChart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199839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Animated analytics for every role, on desktop and mobile.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29768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2628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27" name="Image 4" descr="Fi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199839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5780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Azure-ready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452628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App Service, Azure SQL, Blob storage, GitHub Actions deploy.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804672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7532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pic>
        <p:nvPicPr>
          <p:cNvPr id="32" name="Image 5" descr="FiM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199839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0684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Branded email</a:t>
            </a:r>
            <a:endParaRPr lang="en-US" sz="1900" dirty="0"/>
          </a:p>
        </p:txBody>
      </p:sp>
      <p:sp>
        <p:nvSpPr>
          <p:cNvPr id="34" name="Text 25"/>
          <p:cNvSpPr txBox="1"/>
          <p:nvPr/>
        </p:nvSpPr>
        <p:spPr>
          <a:xfrm>
            <a:off x="827532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Status, reminders and SLA escalations with the full logo.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to run: every token has to earn its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417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Lexical shortlist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Catalogue ranked locally, only top N sent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3774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Cross-student cache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Same course, one model call, ever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337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Cheap model first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Escalate only when unsure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97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Prompt caching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Playbook reused across calls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257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70816"/>
                </a:solidFill>
              </a:rPr>
              <a:t>Budgets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2B1A1D"/>
                </a:solidFill>
              </a:rPr>
              <a:t>Monthly and per-request caps, then fallback to rules</a:t>
            </a:r>
            <a:endParaRPr lang="en-US" sz="1900" dirty="0"/>
          </a:p>
        </p:txBody>
      </p:sp>
      <p:pic>
        <p:nvPicPr>
          <p:cNvPr id="20" name="Dashboard screenshot" descr="Dashbo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371600"/>
            <a:ext cx="4937760" cy="4389120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Scorecard: 22 requirements vs. the code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47548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669280" y="146304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897880" y="1920240"/>
            <a:ext cx="365760" cy="36576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46520" y="14630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261E"/>
                </a:solidFill>
              </a:rPr>
              <a:t>Open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Top-3 hit-rate backtest · one-year deadline tracker · programme rules (Econ/Bio caps, substitutions)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669280" y="292608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897880" y="3383280"/>
            <a:ext cx="365760" cy="36576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46520" y="2926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8A1B"/>
                </a:solidFill>
              </a:rPr>
              <a:t>Partial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Degree-progress view · side-by-side course diff · scripted six-course demo data · one-to-many mappings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669280" y="438912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897880" y="4846320"/>
            <a:ext cx="365760" cy="365760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7D5B"/>
                </a:solidFill>
              </a:rPr>
              <a:t>Built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2B1A1D"/>
                </a:solidFill>
              </a:rPr>
              <a:t>Lanes, quarter 2/3 truncation, grade rules, BU caps, Hub, appeals, workflow, equivalency dates, learning loop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have not proven yet, and what comes next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yet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Anthropic key yet: AI paths are unverified, the rules fallback carries the demo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BU baseline for evaluator minutes or turnaround, so the saving is not yet quantified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SQL logic was written and reviewed but has no automated tests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Quarter rounding (2.66) follows the brief; BU to confirm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46520" y="20116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20116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Seed the six-course demo transcript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278892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46520" y="27889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889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Backtest: top-3 hit rate on held-out decisions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09360" y="356616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46520" y="35661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5661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Degree-progress and side-by-side compare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434340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46520" y="43434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3434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One-year deadline and programme rules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309360" y="512064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46520" y="512064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512064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Turn on Claude and measure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A04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82296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Final say stays with the department.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651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</a:rPr>
              <a:t>Live demo next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10698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Clopay Code Crafters te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3657600"/>
            <a:ext cx="6766560" cy="249240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0" y="3749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Raghuram Raichooti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Sankara Varaprasad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Swetha Katkkoori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1A1D"/>
                </a:solidFill>
              </a:rPr>
              <a:t>Harshil Shah Parimal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Smarter Transfer Credit Evaluation</dc:title>
  <dc:subject>PptxGenJS Presentation</dc:subject>
  <dc:creator>Clopay Code Crafters</dc:creator>
  <cp:lastModifiedBy>Clopay Code Crafters</cp:lastModifiedBy>
  <cp:revision>1</cp:revision>
  <dcterms:created xsi:type="dcterms:W3CDTF">2026-10-27T07:35:43Z</dcterms:created>
  <dcterms:modified xsi:type="dcterms:W3CDTF">2026-10-27T07:35:43Z</dcterms:modified>
</cp:coreProperties>
</file>